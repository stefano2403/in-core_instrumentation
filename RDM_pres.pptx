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  <p:sldMasterId id="2147483686" r:id="rId5"/>
  </p:sldMasterIdLst>
  <p:notesMasterIdLst>
    <p:notesMasterId r:id="rId23"/>
  </p:notesMasterIdLst>
  <p:sldIdLst>
    <p:sldId id="266" r:id="rId6"/>
    <p:sldId id="271" r:id="rId7"/>
    <p:sldId id="259" r:id="rId8"/>
    <p:sldId id="297" r:id="rId9"/>
    <p:sldId id="300" r:id="rId10"/>
    <p:sldId id="298" r:id="rId11"/>
    <p:sldId id="301" r:id="rId12"/>
    <p:sldId id="302" r:id="rId13"/>
    <p:sldId id="289" r:id="rId14"/>
    <p:sldId id="304" r:id="rId15"/>
    <p:sldId id="295" r:id="rId16"/>
    <p:sldId id="305" r:id="rId17"/>
    <p:sldId id="306" r:id="rId18"/>
    <p:sldId id="288" r:id="rId19"/>
    <p:sldId id="307" r:id="rId20"/>
    <p:sldId id="308" r:id="rId21"/>
    <p:sldId id="309" r:id="rId22"/>
  </p:sldIdLst>
  <p:sldSz cx="12192000" cy="6858000"/>
  <p:notesSz cx="6858000" cy="9144000"/>
  <p:embeddedFontLst>
    <p:embeddedFont>
      <p:font typeface="Cambria Math" panose="02040503050406030204" pitchFamily="18" charset="0"/>
      <p:regular r:id="rId24"/>
    </p:embeddedFont>
    <p:embeddedFont>
      <p:font typeface="Manrope" pitchFamily="2" charset="0"/>
      <p:regular r:id="rId25"/>
      <p:bold r:id="rId26"/>
      <p:italic r:id="rId27"/>
      <p:boldItalic r:id="rId28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  <a:srgbClr val="102C53"/>
    <a:srgbClr val="E3E6EB"/>
    <a:srgbClr val="D2D7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Stile medio 4 - Color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Stile medio 4 - Color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FABFCF23-3B69-468F-B69F-88F6DE6A72F2}" styleName="Stile medio 1 - Color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61" autoAdjust="0"/>
    <p:restoredTop sz="94660"/>
  </p:normalViewPr>
  <p:slideViewPr>
    <p:cSldViewPr snapToGrid="0" showGuides="1">
      <p:cViewPr varScale="1">
        <p:scale>
          <a:sx n="126" d="100"/>
          <a:sy n="126" d="100"/>
        </p:scale>
        <p:origin x="232" y="30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2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A2F874-A982-4EC3-BD4B-BD59E32C66C1}" type="datetimeFigureOut">
              <a:rPr lang="it-IT" smtClean="0"/>
              <a:t>30/01/26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62F2E-6FDF-4A6B-AB76-08EC33B1253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7886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_A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0933319C-8AC5-4764-9981-AEA331D30C57}"/>
              </a:ext>
            </a:extLst>
          </p:cNvPr>
          <p:cNvSpPr/>
          <p:nvPr userDrawn="1"/>
        </p:nvSpPr>
        <p:spPr>
          <a:xfrm>
            <a:off x="0" y="0"/>
            <a:ext cx="285591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847A823-6861-4ED7-916A-EB4BF5CE6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808073"/>
            <a:ext cx="2163688" cy="84008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86D3BA3-83F0-4C02-8636-ACA6EA9DF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POLITECNICO DI MILANO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CB1FEA7-7590-4AD0-A0B1-48092069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598263" cy="365125"/>
          </a:xfrm>
          <a:prstGeom prst="rect">
            <a:avLst/>
          </a:prstGeom>
        </p:spPr>
        <p:txBody>
          <a:bodyPr/>
          <a:lstStyle/>
          <a:p>
            <a:r>
              <a:rPr lang="it-IT"/>
              <a:t>Campo facoltativo e personalizzabile (inserire dal Tab INSERISCI &gt; intestazione e piè di pagina&gt; piè di pagina &gt;applica a tutte)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95199BD-4F67-4AA1-A795-95C0BF54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67325048-9832-400A-BAC7-02B5977E3E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163762" cy="4429125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2AF746B8-16B5-4251-938A-CD03C89D3C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16276" y="2060575"/>
            <a:ext cx="8640762" cy="4429125"/>
          </a:xfrm>
        </p:spPr>
        <p:txBody>
          <a:bodyPr>
            <a:noAutofit/>
          </a:bodyPr>
          <a:lstStyle>
            <a:lvl1pPr marL="342900" indent="-342900">
              <a:buFont typeface="+mj-lt"/>
              <a:buAutoNum type="arabicPeriod"/>
              <a:defRPr sz="1400" b="1">
                <a:solidFill>
                  <a:schemeClr val="tx2"/>
                </a:solidFill>
              </a:defRPr>
            </a:lvl1pPr>
            <a:lvl2pPr marL="360000" indent="0">
              <a:buFont typeface="+mj-lt"/>
              <a:buNone/>
              <a:defRPr sz="1400"/>
            </a:lvl2pPr>
            <a:lvl3pPr marL="1257300" indent="-3429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it-IT" dirty="0"/>
              <a:t>Titolo Sezione</a:t>
            </a:r>
          </a:p>
          <a:p>
            <a:pPr lvl="1"/>
            <a:r>
              <a:rPr lang="it-IT" dirty="0"/>
              <a:t>Titolo Capitolo</a:t>
            </a:r>
          </a:p>
          <a:p>
            <a:pPr lvl="1"/>
            <a:r>
              <a:rPr lang="it-IT" dirty="0"/>
              <a:t>Titolo Capitolo</a:t>
            </a:r>
          </a:p>
          <a:p>
            <a:pPr lvl="1"/>
            <a:endParaRPr lang="it-IT" dirty="0"/>
          </a:p>
          <a:p>
            <a:pPr lvl="0"/>
            <a:r>
              <a:rPr lang="it-IT" dirty="0"/>
              <a:t>Titolo Sezione</a:t>
            </a:r>
          </a:p>
          <a:p>
            <a:pPr lvl="1"/>
            <a:r>
              <a:rPr lang="it-IT" dirty="0"/>
              <a:t>Titolo Capitolo</a:t>
            </a:r>
          </a:p>
          <a:p>
            <a:pPr lvl="1"/>
            <a:r>
              <a:rPr lang="it-IT" dirty="0"/>
              <a:t>Titolo Capitolo</a:t>
            </a:r>
          </a:p>
          <a:p>
            <a:pPr lvl="1"/>
            <a:endParaRPr lang="it-IT" dirty="0"/>
          </a:p>
          <a:p>
            <a:pPr lvl="0"/>
            <a:r>
              <a:rPr lang="it-IT" dirty="0"/>
              <a:t>Titolo Sezione</a:t>
            </a:r>
          </a:p>
          <a:p>
            <a:pPr lvl="1"/>
            <a:r>
              <a:rPr lang="it-IT" dirty="0"/>
              <a:t>Titolo Capitolo</a:t>
            </a:r>
          </a:p>
          <a:p>
            <a:pPr lvl="1"/>
            <a:r>
              <a:rPr lang="it-IT" dirty="0"/>
              <a:t>Titolo Capitolo</a:t>
            </a:r>
          </a:p>
          <a:p>
            <a:pPr lvl="1"/>
            <a:endParaRPr lang="it-IT" dirty="0"/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81974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_B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812652"/>
            <a:ext cx="11522075" cy="84008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Indice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POLITECNICO DI MILANO</a:t>
            </a:r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598263" cy="365125"/>
          </a:xfrm>
          <a:prstGeom prst="rect">
            <a:avLst/>
          </a:prstGeom>
        </p:spPr>
        <p:txBody>
          <a:bodyPr/>
          <a:lstStyle/>
          <a:p>
            <a:r>
              <a:rPr lang="it-IT"/>
              <a:t>Campo facoltativo e personalizzabile (inserire dal Tab INSERISCI &gt; intestazione e piè di pagina&gt; piè di pagina &gt;applica a tutte)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‹#›</a:t>
            </a:fld>
            <a:endParaRPr lang="it-IT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D1CFA815-ACBE-4524-9331-D296F8E0F9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054988"/>
            <a:ext cx="1890652" cy="332803"/>
          </a:xfrm>
        </p:spPr>
        <p:txBody>
          <a:bodyPr>
            <a:normAutofit/>
          </a:bodyPr>
          <a:lstStyle>
            <a:lvl1pPr>
              <a:defRPr sz="1400" b="1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 sezione</a:t>
            </a:r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75158ADB-01E3-4A38-A321-CD450AEEEF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98652" y="3054988"/>
            <a:ext cx="1890653" cy="332803"/>
          </a:xfrm>
        </p:spPr>
        <p:txBody>
          <a:bodyPr>
            <a:normAutofit/>
          </a:bodyPr>
          <a:lstStyle>
            <a:lvl1pPr>
              <a:defRPr sz="1400" b="1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 sezione</a:t>
            </a:r>
          </a:p>
        </p:txBody>
      </p:sp>
      <p:sp>
        <p:nvSpPr>
          <p:cNvPr id="10" name="Segnaposto testo 7">
            <a:extLst>
              <a:ext uri="{FF2B5EF4-FFF2-40B4-BE49-F238E27FC236}">
                <a16:creationId xmlns:a16="http://schemas.microsoft.com/office/drawing/2014/main" id="{C2B0DC0F-1C21-45C1-8F2A-00A6E13418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2342" y="3054988"/>
            <a:ext cx="1890653" cy="332803"/>
          </a:xfrm>
        </p:spPr>
        <p:txBody>
          <a:bodyPr>
            <a:normAutofit/>
          </a:bodyPr>
          <a:lstStyle>
            <a:lvl1pPr>
              <a:defRPr sz="1400" b="1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 sezione</a:t>
            </a:r>
          </a:p>
        </p:txBody>
      </p:sp>
      <p:sp>
        <p:nvSpPr>
          <p:cNvPr id="11" name="Segnaposto testo 7">
            <a:extLst>
              <a:ext uri="{FF2B5EF4-FFF2-40B4-BE49-F238E27FC236}">
                <a16:creationId xmlns:a16="http://schemas.microsoft.com/office/drawing/2014/main" id="{76250419-1EAD-4278-97B7-1BA8F07525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6032" y="3054988"/>
            <a:ext cx="1890653" cy="332803"/>
          </a:xfrm>
        </p:spPr>
        <p:txBody>
          <a:bodyPr>
            <a:normAutofit/>
          </a:bodyPr>
          <a:lstStyle>
            <a:lvl1pPr>
              <a:defRPr sz="1400" b="1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 sezione</a:t>
            </a:r>
          </a:p>
        </p:txBody>
      </p:sp>
      <p:sp>
        <p:nvSpPr>
          <p:cNvPr id="12" name="Segnaposto testo 7">
            <a:extLst>
              <a:ext uri="{FF2B5EF4-FFF2-40B4-BE49-F238E27FC236}">
                <a16:creationId xmlns:a16="http://schemas.microsoft.com/office/drawing/2014/main" id="{DCD9C49F-F44E-4E82-864B-742438DCAE6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89722" y="3054988"/>
            <a:ext cx="1890653" cy="332803"/>
          </a:xfrm>
        </p:spPr>
        <p:txBody>
          <a:bodyPr>
            <a:normAutofit/>
          </a:bodyPr>
          <a:lstStyle>
            <a:lvl1pPr>
              <a:defRPr sz="1400" b="1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 sezione</a:t>
            </a:r>
            <a:br>
              <a:rPr lang="it-IT" dirty="0"/>
            </a:br>
            <a:endParaRPr lang="it-IT" dirty="0"/>
          </a:p>
        </p:txBody>
      </p:sp>
      <p:sp>
        <p:nvSpPr>
          <p:cNvPr id="13" name="Segnaposto testo 7">
            <a:extLst>
              <a:ext uri="{FF2B5EF4-FFF2-40B4-BE49-F238E27FC236}">
                <a16:creationId xmlns:a16="http://schemas.microsoft.com/office/drawing/2014/main" id="{7F91CD7E-BBFD-483F-A271-EC1D28C8A8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3736780"/>
            <a:ext cx="1890652" cy="1876932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Titolo argomento</a:t>
            </a:r>
          </a:p>
          <a:p>
            <a:pPr lvl="0"/>
            <a:endParaRPr lang="it-IT" dirty="0"/>
          </a:p>
        </p:txBody>
      </p:sp>
      <p:sp>
        <p:nvSpPr>
          <p:cNvPr id="18" name="Segnaposto testo 7">
            <a:extLst>
              <a:ext uri="{FF2B5EF4-FFF2-40B4-BE49-F238E27FC236}">
                <a16:creationId xmlns:a16="http://schemas.microsoft.com/office/drawing/2014/main" id="{50290743-6926-46ED-BE46-501A4F78CC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16200000">
            <a:off x="191706" y="2115912"/>
            <a:ext cx="776376" cy="665702"/>
          </a:xfrm>
        </p:spPr>
        <p:txBody>
          <a:bodyPr anchor="t">
            <a:noAutofit/>
          </a:bodyPr>
          <a:lstStyle>
            <a:lvl1pPr algn="r">
              <a:defRPr sz="4400" b="0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01</a:t>
            </a:r>
          </a:p>
        </p:txBody>
      </p:sp>
      <p:sp>
        <p:nvSpPr>
          <p:cNvPr id="19" name="Segnaposto testo 7">
            <a:extLst>
              <a:ext uri="{FF2B5EF4-FFF2-40B4-BE49-F238E27FC236}">
                <a16:creationId xmlns:a16="http://schemas.microsoft.com/office/drawing/2014/main" id="{9AA91E9E-F4C5-4318-8BFC-5E627DF7F5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rot="16200000">
            <a:off x="2324033" y="2115912"/>
            <a:ext cx="776376" cy="665702"/>
          </a:xfrm>
        </p:spPr>
        <p:txBody>
          <a:bodyPr anchor="t">
            <a:noAutofit/>
          </a:bodyPr>
          <a:lstStyle>
            <a:lvl1pPr algn="r">
              <a:defRPr sz="4400" b="0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02</a:t>
            </a:r>
          </a:p>
        </p:txBody>
      </p:sp>
      <p:sp>
        <p:nvSpPr>
          <p:cNvPr id="20" name="Segnaposto testo 7">
            <a:extLst>
              <a:ext uri="{FF2B5EF4-FFF2-40B4-BE49-F238E27FC236}">
                <a16:creationId xmlns:a16="http://schemas.microsoft.com/office/drawing/2014/main" id="{D6F57CB6-9F04-49B6-939C-D13BA7FB06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rot="16200000">
            <a:off x="4515027" y="2115912"/>
            <a:ext cx="776376" cy="665702"/>
          </a:xfrm>
        </p:spPr>
        <p:txBody>
          <a:bodyPr anchor="t">
            <a:noAutofit/>
          </a:bodyPr>
          <a:lstStyle>
            <a:lvl1pPr algn="r">
              <a:defRPr sz="4400" b="0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03</a:t>
            </a:r>
          </a:p>
        </p:txBody>
      </p:sp>
      <p:sp>
        <p:nvSpPr>
          <p:cNvPr id="21" name="Segnaposto testo 7">
            <a:extLst>
              <a:ext uri="{FF2B5EF4-FFF2-40B4-BE49-F238E27FC236}">
                <a16:creationId xmlns:a16="http://schemas.microsoft.com/office/drawing/2014/main" id="{6C01B50D-1661-4131-BCDF-441CC22144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16200000">
            <a:off x="6674762" y="2115912"/>
            <a:ext cx="776376" cy="665702"/>
          </a:xfrm>
        </p:spPr>
        <p:txBody>
          <a:bodyPr anchor="t">
            <a:noAutofit/>
          </a:bodyPr>
          <a:lstStyle>
            <a:lvl1pPr algn="r">
              <a:defRPr sz="4400" b="0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04</a:t>
            </a:r>
          </a:p>
        </p:txBody>
      </p:sp>
      <p:sp>
        <p:nvSpPr>
          <p:cNvPr id="22" name="Segnaposto testo 7">
            <a:extLst>
              <a:ext uri="{FF2B5EF4-FFF2-40B4-BE49-F238E27FC236}">
                <a16:creationId xmlns:a16="http://schemas.microsoft.com/office/drawing/2014/main" id="{2D503613-5D8F-4B95-8EB3-13963149108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 rot="16200000">
            <a:off x="8846462" y="2115912"/>
            <a:ext cx="776376" cy="665702"/>
          </a:xfrm>
        </p:spPr>
        <p:txBody>
          <a:bodyPr anchor="t">
            <a:noAutofit/>
          </a:bodyPr>
          <a:lstStyle>
            <a:lvl1pPr algn="r">
              <a:defRPr sz="4400" b="0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05</a:t>
            </a:r>
          </a:p>
        </p:txBody>
      </p:sp>
      <p:sp>
        <p:nvSpPr>
          <p:cNvPr id="23" name="Segnaposto testo 7">
            <a:extLst>
              <a:ext uri="{FF2B5EF4-FFF2-40B4-BE49-F238E27FC236}">
                <a16:creationId xmlns:a16="http://schemas.microsoft.com/office/drawing/2014/main" id="{D6AE53A6-5645-44EC-B619-20693E3FE51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498652" y="3736780"/>
            <a:ext cx="1890652" cy="1876932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Titolo argomento</a:t>
            </a:r>
          </a:p>
          <a:p>
            <a:pPr lvl="0"/>
            <a:endParaRPr lang="it-IT" dirty="0"/>
          </a:p>
        </p:txBody>
      </p:sp>
      <p:sp>
        <p:nvSpPr>
          <p:cNvPr id="24" name="Segnaposto testo 7">
            <a:extLst>
              <a:ext uri="{FF2B5EF4-FFF2-40B4-BE49-F238E27FC236}">
                <a16:creationId xmlns:a16="http://schemas.microsoft.com/office/drawing/2014/main" id="{26F8B43E-3092-43FC-A7B0-45C3ACC71E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62342" y="3736780"/>
            <a:ext cx="1890652" cy="1876932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Titolo argomento</a:t>
            </a:r>
          </a:p>
          <a:p>
            <a:pPr lvl="0"/>
            <a:endParaRPr lang="it-IT" dirty="0"/>
          </a:p>
        </p:txBody>
      </p:sp>
      <p:sp>
        <p:nvSpPr>
          <p:cNvPr id="25" name="Segnaposto testo 7">
            <a:extLst>
              <a:ext uri="{FF2B5EF4-FFF2-40B4-BE49-F238E27FC236}">
                <a16:creationId xmlns:a16="http://schemas.microsoft.com/office/drawing/2014/main" id="{96EAA45D-80FC-4DF6-AC23-808A2DB73D4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26032" y="3736780"/>
            <a:ext cx="1890652" cy="1876932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Titolo argomento</a:t>
            </a:r>
          </a:p>
          <a:p>
            <a:pPr lvl="0"/>
            <a:endParaRPr lang="it-IT" dirty="0"/>
          </a:p>
        </p:txBody>
      </p:sp>
      <p:sp>
        <p:nvSpPr>
          <p:cNvPr id="26" name="Segnaposto testo 7">
            <a:extLst>
              <a:ext uri="{FF2B5EF4-FFF2-40B4-BE49-F238E27FC236}">
                <a16:creationId xmlns:a16="http://schemas.microsoft.com/office/drawing/2014/main" id="{95E95A4E-A14D-4872-961D-4BFE57914A6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89722" y="3736780"/>
            <a:ext cx="1890652" cy="1876932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Titolo argomento</a:t>
            </a:r>
          </a:p>
          <a:p>
            <a:pPr lv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56153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io_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e 10">
            <a:extLst>
              <a:ext uri="{FF2B5EF4-FFF2-40B4-BE49-F238E27FC236}">
                <a16:creationId xmlns:a16="http://schemas.microsoft.com/office/drawing/2014/main" id="{35E14663-8764-4DCE-B9CB-7C9A4CEA9BB5}"/>
              </a:ext>
            </a:extLst>
          </p:cNvPr>
          <p:cNvSpPr/>
          <p:nvPr userDrawn="1"/>
        </p:nvSpPr>
        <p:spPr>
          <a:xfrm rot="6083929">
            <a:off x="1311375" y="1414011"/>
            <a:ext cx="10887270" cy="10887979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 dirty="0">
              <a:latin typeface="Manrope" pitchFamily="2" charset="0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6275" y="1418313"/>
            <a:ext cx="8640763" cy="1299008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Titolo del divisorio</a:t>
            </a: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1418312"/>
            <a:ext cx="1284270" cy="1284270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0" y="1418312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0" y="2717320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1284270" y="1"/>
            <a:ext cx="0" cy="7099442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4D2183DA-6999-4DF4-AE0B-EDCD20466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65931" y="3961597"/>
            <a:ext cx="3091107" cy="2359025"/>
          </a:xfrm>
        </p:spPr>
        <p:txBody>
          <a:bodyPr anchor="b">
            <a:normAutofit/>
          </a:bodyPr>
          <a:lstStyle>
            <a:lvl1pPr algn="r">
              <a:defRPr sz="96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051853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io_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6275" y="1418313"/>
            <a:ext cx="8640763" cy="1299008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Titolo del divisorio</a:t>
            </a: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1418312"/>
            <a:ext cx="1284270" cy="1284270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0" y="1418312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0" y="2717320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1284270" y="1"/>
            <a:ext cx="0" cy="7099442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4D2183DA-6999-4DF4-AE0B-EDCD20466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2985" y="3961597"/>
            <a:ext cx="2924053" cy="2359025"/>
          </a:xfrm>
        </p:spPr>
        <p:txBody>
          <a:bodyPr anchor="b">
            <a:normAutofit/>
          </a:bodyPr>
          <a:lstStyle>
            <a:lvl1pPr algn="r">
              <a:defRPr sz="96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22318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io_C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6275" y="1418313"/>
            <a:ext cx="8640763" cy="1284268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del divisorio</a:t>
            </a: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1418312"/>
            <a:ext cx="1284270" cy="1284270"/>
          </a:xfrm>
          <a:prstGeom prst="ellipse">
            <a:avLst/>
          </a:prstGeom>
          <a:noFill/>
          <a:ln w="9525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0" y="1418312"/>
            <a:ext cx="12192000" cy="0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0" y="2717320"/>
            <a:ext cx="12192000" cy="0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1284270" y="1"/>
            <a:ext cx="0" cy="7099442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4D2183DA-6999-4DF4-AE0B-EDCD20466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20808" y="3961597"/>
            <a:ext cx="3636230" cy="2359025"/>
          </a:xfrm>
        </p:spPr>
        <p:txBody>
          <a:bodyPr anchor="b">
            <a:normAutofit/>
          </a:bodyPr>
          <a:lstStyle>
            <a:lvl1pPr algn="r">
              <a:defRPr sz="96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557231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finale_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e 9">
            <a:extLst>
              <a:ext uri="{FF2B5EF4-FFF2-40B4-BE49-F238E27FC236}">
                <a16:creationId xmlns:a16="http://schemas.microsoft.com/office/drawing/2014/main" id="{29206C3E-8262-4BAC-A209-F4327335E1F0}"/>
              </a:ext>
            </a:extLst>
          </p:cNvPr>
          <p:cNvSpPr/>
          <p:nvPr userDrawn="1"/>
        </p:nvSpPr>
        <p:spPr>
          <a:xfrm rot="11483929">
            <a:off x="1293786" y="-5274490"/>
            <a:ext cx="10887270" cy="10887979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 dirty="0">
              <a:latin typeface="Manrope" pitchFamily="2" charset="0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6275" y="4295077"/>
            <a:ext cx="8640763" cy="1299008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Chiusura / Ringraziamenti</a:t>
            </a: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4295076"/>
            <a:ext cx="1284270" cy="1284270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0" y="4295076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0" y="5594084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1284270" y="1"/>
            <a:ext cx="0" cy="7099442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e 10">
            <a:extLst>
              <a:ext uri="{FF2B5EF4-FFF2-40B4-BE49-F238E27FC236}">
                <a16:creationId xmlns:a16="http://schemas.microsoft.com/office/drawing/2014/main" id="{E4786A85-B23B-420C-9463-CF262A126A21}"/>
              </a:ext>
            </a:extLst>
          </p:cNvPr>
          <p:cNvSpPr/>
          <p:nvPr userDrawn="1"/>
        </p:nvSpPr>
        <p:spPr>
          <a:xfrm rot="11483929">
            <a:off x="652366" y="5545716"/>
            <a:ext cx="10887270" cy="10887979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 dirty="0">
              <a:latin typeface="Manrop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77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finale_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6275" y="4295077"/>
            <a:ext cx="8640763" cy="1299008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Chiusura / Ringraziamenti</a:t>
            </a: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4295076"/>
            <a:ext cx="1284270" cy="1284270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0" y="4295076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0" y="5594084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1284270" y="1"/>
            <a:ext cx="0" cy="7099442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493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_ test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808073"/>
            <a:ext cx="8640000" cy="84008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POLITECNICO DI MILANO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Campo facoltativo e personalizzabile (inserire dal Tab INSERISCI &gt; intestazione e piè di pagina&gt; piè di pagina &gt;applica a tutte)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8640000" cy="44291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8769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_ testo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08073"/>
            <a:ext cx="11522075" cy="84008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POLITECNICO DI MILANO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598263" cy="365125"/>
          </a:xfrm>
          <a:prstGeom prst="rect">
            <a:avLst/>
          </a:prstGeom>
        </p:spPr>
        <p:txBody>
          <a:bodyPr/>
          <a:lstStyle/>
          <a:p>
            <a:r>
              <a:rPr lang="it-IT"/>
              <a:t>Campo facoltativo e personalizzabile (inserire dal Tab INSERISCI &gt; intestazione e piè di pagina&gt; piè di pagina &gt;applica a tutte)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5330113" cy="44291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egnaposto testo 6">
            <a:extLst>
              <a:ext uri="{FF2B5EF4-FFF2-40B4-BE49-F238E27FC236}">
                <a16:creationId xmlns:a16="http://schemas.microsoft.com/office/drawing/2014/main" id="{A91EDD17-1F39-46F2-A6AE-0DA93D9DE7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0000" y="2060575"/>
            <a:ext cx="5330113" cy="44291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809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_ testo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08073"/>
            <a:ext cx="11522075" cy="84008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POLITECNICO DI MILANO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598263" cy="365125"/>
          </a:xfrm>
          <a:prstGeom prst="rect">
            <a:avLst/>
          </a:prstGeom>
        </p:spPr>
        <p:txBody>
          <a:bodyPr/>
          <a:lstStyle/>
          <a:p>
            <a:r>
              <a:rPr lang="it-IT"/>
              <a:t>Campo facoltativo e personalizzabile (inserire dal Tab INSERISCI &gt; intestazione e piè di pagina&gt; piè di pagina &gt;applica a tutte)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6275" y="2060575"/>
            <a:ext cx="8640762" cy="44291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E3A4E093-361F-4C37-B47B-B067A8415F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4" y="2060575"/>
            <a:ext cx="2601668" cy="4429125"/>
          </a:xfrm>
        </p:spPr>
        <p:txBody>
          <a:bodyPr/>
          <a:lstStyle>
            <a:lvl1pPr marL="342900" indent="-342900">
              <a:buAutoNum type="arabicPeriod"/>
              <a:defRPr b="1"/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/>
              <a:t>ipsum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70807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_Ogget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11522075" cy="84008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5458E8-0508-42CF-A7E2-ABE84A714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3" y="2060576"/>
            <a:ext cx="11522075" cy="4146550"/>
          </a:xfr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POLITECNICO DI MILANO</a:t>
            </a:r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598263" cy="365125"/>
          </a:xfrm>
          <a:prstGeom prst="rect">
            <a:avLst/>
          </a:prstGeom>
        </p:spPr>
        <p:txBody>
          <a:bodyPr/>
          <a:lstStyle/>
          <a:p>
            <a:r>
              <a:rPr lang="it-IT"/>
              <a:t>Campo facoltativo e personalizzabile (inserire dal Tab INSERISCI &gt; intestazione e piè di pagina&gt; piè di pagina &gt;applica a tutte)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‹#›</a:t>
            </a:fld>
            <a:endParaRPr lang="it-IT"/>
          </a:p>
        </p:txBody>
      </p:sp>
      <p:sp>
        <p:nvSpPr>
          <p:cNvPr id="7" name="Segnaposto testo 11">
            <a:extLst>
              <a:ext uri="{FF2B5EF4-FFF2-40B4-BE49-F238E27FC236}">
                <a16:creationId xmlns:a16="http://schemas.microsoft.com/office/drawing/2014/main" id="{6924BD38-C241-45AE-9D16-9EE806C4074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962" y="6207125"/>
            <a:ext cx="11522076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7021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colonna _ testo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0933319C-8AC5-4764-9981-AEA331D30C57}"/>
              </a:ext>
            </a:extLst>
          </p:cNvPr>
          <p:cNvSpPr/>
          <p:nvPr userDrawn="1"/>
        </p:nvSpPr>
        <p:spPr>
          <a:xfrm>
            <a:off x="0" y="0"/>
            <a:ext cx="285591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847A823-6861-4ED7-916A-EB4BF5CE6D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808073"/>
            <a:ext cx="2163688" cy="840083"/>
          </a:xfr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Inserire titolo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86D3BA3-83F0-4C02-8636-ACA6EA9DF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POLITECNICO DI MILANO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CB1FEA7-7590-4AD0-A0B1-48092069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598263" cy="365125"/>
          </a:xfrm>
          <a:prstGeom prst="rect">
            <a:avLst/>
          </a:prstGeom>
        </p:spPr>
        <p:txBody>
          <a:bodyPr/>
          <a:lstStyle/>
          <a:p>
            <a:r>
              <a:rPr lang="it-IT"/>
              <a:t>Campo facoltativo e personalizzabile (inserire dal Tab INSERISCI &gt; intestazione e piè di pagina&gt; piè di pagina &gt;applica a tutte)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95199BD-4F67-4AA1-A795-95C0BF54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67325048-9832-400A-BAC7-02B5977E3E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163762" cy="4429125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1C0D3E2E-2AFC-47C5-ADBC-3E40FCEC1C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16275" y="2060575"/>
            <a:ext cx="8640763" cy="4429125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1598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colonna _ oggetto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0933319C-8AC5-4764-9981-AEA331D30C57}"/>
              </a:ext>
            </a:extLst>
          </p:cNvPr>
          <p:cNvSpPr/>
          <p:nvPr userDrawn="1"/>
        </p:nvSpPr>
        <p:spPr>
          <a:xfrm>
            <a:off x="0" y="0"/>
            <a:ext cx="285591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847A823-6861-4ED7-916A-EB4BF5CE6D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808073"/>
            <a:ext cx="2163688" cy="840083"/>
          </a:xfr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Inserire titolo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86D3BA3-83F0-4C02-8636-ACA6EA9DF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POLITECNICO DI MILANO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CB1FEA7-7590-4AD0-A0B1-48092069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598263" cy="365125"/>
          </a:xfrm>
          <a:prstGeom prst="rect">
            <a:avLst/>
          </a:prstGeom>
        </p:spPr>
        <p:txBody>
          <a:bodyPr/>
          <a:lstStyle/>
          <a:p>
            <a:r>
              <a:rPr lang="it-IT"/>
              <a:t>Campo facoltativo e personalizzabile (inserire dal Tab INSERISCI &gt; intestazione e piè di pagina&gt; piè di pagina &gt;applica a tutte)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95199BD-4F67-4AA1-A795-95C0BF54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67325048-9832-400A-BAC7-02B5977E3E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163762" cy="4429125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9B8341C8-2CFC-44BF-90C6-72E69DB8889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16275" y="2060575"/>
            <a:ext cx="8640762" cy="3997325"/>
          </a:xfrm>
          <a:noFill/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1B32F2C4-840A-465D-B8D3-9DE2BF3FC6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16275" y="6207125"/>
            <a:ext cx="5232400" cy="282575"/>
          </a:xfrm>
        </p:spPr>
        <p:txBody>
          <a:bodyPr anchor="b">
            <a:noAutofit/>
          </a:bodyPr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35770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sfondo colore _ oggetto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11522075" cy="84008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5458E8-0508-42CF-A7E2-ABE84A714D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963" y="2060576"/>
            <a:ext cx="11522075" cy="4146550"/>
          </a:xfrm>
          <a:noFill/>
        </p:spPr>
        <p:txBody>
          <a:bodyPr/>
          <a:lstStyle>
            <a:lvl1pPr>
              <a:defRPr/>
            </a:lvl1pPr>
          </a:lstStyle>
          <a:p>
            <a:pPr lvl="0"/>
            <a:r>
              <a:rPr lang="it-IT" dirty="0"/>
              <a:t>Inserire testo / oggetto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POLITECNICO DI MILANO</a:t>
            </a:r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598263" cy="365125"/>
          </a:xfrm>
          <a:prstGeom prst="rect">
            <a:avLst/>
          </a:prstGeom>
        </p:spPr>
        <p:txBody>
          <a:bodyPr/>
          <a:lstStyle/>
          <a:p>
            <a:r>
              <a:rPr lang="it-IT"/>
              <a:t>Campo facoltativo e personalizzabile (inserire dal Tab INSERISCI &gt; intestazione e piè di pagina&gt; piè di pagina &gt;applica a tutte)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‹#›</a:t>
            </a:fld>
            <a:endParaRPr lang="it-IT"/>
          </a:p>
        </p:txBody>
      </p:sp>
      <p:sp>
        <p:nvSpPr>
          <p:cNvPr id="7" name="Segnaposto testo 11">
            <a:extLst>
              <a:ext uri="{FF2B5EF4-FFF2-40B4-BE49-F238E27FC236}">
                <a16:creationId xmlns:a16="http://schemas.microsoft.com/office/drawing/2014/main" id="{8E2D0317-6708-4FD8-83CC-23BC5CFD3B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962" y="6207125"/>
            <a:ext cx="5232400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6660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immagine _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858C886A-46B2-4CBC-A989-B9F302647C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20316" y="812652"/>
            <a:ext cx="6471684" cy="5677048"/>
          </a:xfr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812652"/>
            <a:ext cx="4705298" cy="84008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POLITECNICO DI MILANO</a:t>
            </a:r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598263" cy="365125"/>
          </a:xfrm>
          <a:prstGeom prst="rect">
            <a:avLst/>
          </a:prstGeom>
        </p:spPr>
        <p:txBody>
          <a:bodyPr/>
          <a:lstStyle/>
          <a:p>
            <a:r>
              <a:rPr lang="it-IT"/>
              <a:t>Campo facoltativo e personalizzabile (inserire dal Tab INSERISCI &gt; intestazione e piè di pagina&gt; piè di pagina &gt;applica a tutte)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‹#›</a:t>
            </a:fld>
            <a:endParaRPr lang="it-IT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13E84B02-C61F-4F06-B7D2-53B3863108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060575"/>
            <a:ext cx="4705299" cy="44291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022925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immagine _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>
            <a:extLst>
              <a:ext uri="{FF2B5EF4-FFF2-40B4-BE49-F238E27FC236}">
                <a16:creationId xmlns:a16="http://schemas.microsoft.com/office/drawing/2014/main" id="{BF578AB8-DC96-4BF4-9F97-D7DA508CF3E9}"/>
              </a:ext>
            </a:extLst>
          </p:cNvPr>
          <p:cNvSpPr/>
          <p:nvPr userDrawn="1"/>
        </p:nvSpPr>
        <p:spPr>
          <a:xfrm>
            <a:off x="0" y="0"/>
            <a:ext cx="2855913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858C886A-46B2-4CBC-A989-B9F302647C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6120" y="812652"/>
            <a:ext cx="4355183" cy="5677048"/>
          </a:xfr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5192" y="812652"/>
            <a:ext cx="6021846" cy="84008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POLITECNICO DI MILANO</a:t>
            </a:r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598263" cy="365125"/>
          </a:xfrm>
          <a:prstGeom prst="rect">
            <a:avLst/>
          </a:prstGeom>
        </p:spPr>
        <p:txBody>
          <a:bodyPr/>
          <a:lstStyle/>
          <a:p>
            <a:r>
              <a:rPr lang="it-IT"/>
              <a:t>Campo facoltativo e personalizzabile (inserire dal Tab INSERISCI &gt; intestazione e piè di pagina&gt; piè di pagina &gt;applica a tutte)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‹#›</a:t>
            </a:fld>
            <a:endParaRPr lang="it-IT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4BEA68D2-13D7-4E83-8B67-3B7D4B3EB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35192" y="2060575"/>
            <a:ext cx="6021846" cy="4429125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00492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didascalia 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6120000" cy="84008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POLITECNICO DI MILANO</a:t>
            </a:r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598263" cy="365125"/>
          </a:xfrm>
          <a:prstGeom prst="rect">
            <a:avLst/>
          </a:prstGeom>
        </p:spPr>
        <p:txBody>
          <a:bodyPr/>
          <a:lstStyle/>
          <a:p>
            <a:r>
              <a:rPr lang="it-IT"/>
              <a:t>Campo facoltativo e personalizzabile (inserire dal Tab INSERISCI &gt; intestazione e piè di pagina&gt; piè di pagina &gt;applica a tutte)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‹#›</a:t>
            </a:fld>
            <a:endParaRPr lang="it-IT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13E84B02-C61F-4F06-B7D2-53B3863108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060575"/>
            <a:ext cx="6120000" cy="44291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t-IT" dirty="0"/>
          </a:p>
        </p:txBody>
      </p:sp>
      <p:sp>
        <p:nvSpPr>
          <p:cNvPr id="9" name="Segnaposto testo 11">
            <a:extLst>
              <a:ext uri="{FF2B5EF4-FFF2-40B4-BE49-F238E27FC236}">
                <a16:creationId xmlns:a16="http://schemas.microsoft.com/office/drawing/2014/main" id="{44C15745-FE91-4F85-912A-DE21BA99A8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31074" y="6207125"/>
            <a:ext cx="4525963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Segnaposto contenuto 10">
            <a:extLst>
              <a:ext uri="{FF2B5EF4-FFF2-40B4-BE49-F238E27FC236}">
                <a16:creationId xmlns:a16="http://schemas.microsoft.com/office/drawing/2014/main" id="{981C075B-AD13-4CF1-8E6F-EFDE96C167B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331075" y="800100"/>
            <a:ext cx="4525963" cy="5407025"/>
          </a:xfr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39323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didascalia 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812652"/>
            <a:ext cx="6120000" cy="84008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POLITECNICO DI MILANO</a:t>
            </a:r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598263" cy="365125"/>
          </a:xfrm>
          <a:prstGeom prst="rect">
            <a:avLst/>
          </a:prstGeom>
        </p:spPr>
        <p:txBody>
          <a:bodyPr/>
          <a:lstStyle/>
          <a:p>
            <a:r>
              <a:rPr lang="it-IT"/>
              <a:t>Campo facoltativo e personalizzabile (inserire dal Tab INSERISCI &gt; intestazione e piè di pagina&gt; piè di pagina &gt;applica a tutte)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‹#›</a:t>
            </a:fld>
            <a:endParaRPr lang="it-IT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13E84B02-C61F-4F06-B7D2-53B3863108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060575"/>
            <a:ext cx="6120000" cy="44291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t-IT" dirty="0"/>
          </a:p>
        </p:txBody>
      </p:sp>
      <p:sp>
        <p:nvSpPr>
          <p:cNvPr id="9" name="Segnaposto testo 11">
            <a:extLst>
              <a:ext uri="{FF2B5EF4-FFF2-40B4-BE49-F238E27FC236}">
                <a16:creationId xmlns:a16="http://schemas.microsoft.com/office/drawing/2014/main" id="{44C15745-FE91-4F85-912A-DE21BA99A8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31074" y="6207125"/>
            <a:ext cx="4525963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egnaposto testo 11">
            <a:extLst>
              <a:ext uri="{FF2B5EF4-FFF2-40B4-BE49-F238E27FC236}">
                <a16:creationId xmlns:a16="http://schemas.microsoft.com/office/drawing/2014/main" id="{347D0FBD-1472-468C-84DA-540ADCCDF1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31074" y="3138105"/>
            <a:ext cx="4525963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Segnaposto contenuto 10">
            <a:extLst>
              <a:ext uri="{FF2B5EF4-FFF2-40B4-BE49-F238E27FC236}">
                <a16:creationId xmlns:a16="http://schemas.microsoft.com/office/drawing/2014/main" id="{AE654BE7-A245-475E-B2C5-2D5C0EA5B87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331075" y="3867807"/>
            <a:ext cx="4525963" cy="2339318"/>
          </a:xfr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Segnaposto contenuto 10">
            <a:extLst>
              <a:ext uri="{FF2B5EF4-FFF2-40B4-BE49-F238E27FC236}">
                <a16:creationId xmlns:a16="http://schemas.microsoft.com/office/drawing/2014/main" id="{C7FD40C7-9A42-4239-BA55-CFB8D43C528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331075" y="799291"/>
            <a:ext cx="4525963" cy="2339318"/>
          </a:xfr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62106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didascalia 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808073"/>
            <a:ext cx="8640000" cy="84008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POLITECNICO DI MILANO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598263" cy="365125"/>
          </a:xfrm>
          <a:prstGeom prst="rect">
            <a:avLst/>
          </a:prstGeom>
        </p:spPr>
        <p:txBody>
          <a:bodyPr/>
          <a:lstStyle/>
          <a:p>
            <a:r>
              <a:rPr lang="it-IT"/>
              <a:t>Campo facoltativo e personalizzabile (inserire dal Tab INSERISCI &gt; intestazione e piè di pagina&gt; piè di pagina &gt;applica a tutte)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6"/>
            <a:ext cx="8640000" cy="76175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D48807E7-406F-46DA-A7FF-0C9752585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3" y="3234752"/>
            <a:ext cx="5423999" cy="2972374"/>
          </a:xfr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egnaposto testo 11">
            <a:extLst>
              <a:ext uri="{FF2B5EF4-FFF2-40B4-BE49-F238E27FC236}">
                <a16:creationId xmlns:a16="http://schemas.microsoft.com/office/drawing/2014/main" id="{833CAB92-1558-4E15-91D9-6F44CDF88BF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962" y="6207125"/>
            <a:ext cx="5423999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B0E56354-394B-4187-9F9C-3EC0AFE56EF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463201" y="3234752"/>
            <a:ext cx="5423999" cy="2972374"/>
          </a:xfr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egnaposto testo 11">
            <a:extLst>
              <a:ext uri="{FF2B5EF4-FFF2-40B4-BE49-F238E27FC236}">
                <a16:creationId xmlns:a16="http://schemas.microsoft.com/office/drawing/2014/main" id="{FA2B0198-8A91-4620-9797-8C5B2DBFE18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63200" y="6207125"/>
            <a:ext cx="5423999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97318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ina grafica _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1BA738B4-CAEF-4DF6-8F86-853259BEF8C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982591"/>
            <a:ext cx="0" cy="4926573"/>
          </a:xfrm>
          <a:prstGeom prst="line">
            <a:avLst/>
          </a:prstGeom>
          <a:ln w="6350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e 16">
            <a:extLst>
              <a:ext uri="{FF2B5EF4-FFF2-40B4-BE49-F238E27FC236}">
                <a16:creationId xmlns:a16="http://schemas.microsoft.com/office/drawing/2014/main" id="{4C773052-8674-4F4A-B692-74398E7F6181}"/>
              </a:ext>
            </a:extLst>
          </p:cNvPr>
          <p:cNvSpPr/>
          <p:nvPr userDrawn="1"/>
        </p:nvSpPr>
        <p:spPr>
          <a:xfrm>
            <a:off x="-72" y="1982591"/>
            <a:ext cx="6095999" cy="6086885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4494B2F9-56E8-468F-84B7-6289E8C13D51}"/>
              </a:ext>
            </a:extLst>
          </p:cNvPr>
          <p:cNvSpPr/>
          <p:nvPr userDrawn="1"/>
        </p:nvSpPr>
        <p:spPr>
          <a:xfrm>
            <a:off x="6096000" y="1982591"/>
            <a:ext cx="6095999" cy="6086885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A18E4507-53BE-463C-8276-54DFB4E83D3E}"/>
              </a:ext>
            </a:extLst>
          </p:cNvPr>
          <p:cNvCxnSpPr>
            <a:cxnSpLocks/>
          </p:cNvCxnSpPr>
          <p:nvPr userDrawn="1"/>
        </p:nvCxnSpPr>
        <p:spPr>
          <a:xfrm>
            <a:off x="0" y="1982591"/>
            <a:ext cx="12192000" cy="0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POLITECNICO DI MILANO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598263" cy="365125"/>
          </a:xfrm>
          <a:prstGeom prst="rect">
            <a:avLst/>
          </a:prstGeom>
        </p:spPr>
        <p:txBody>
          <a:bodyPr/>
          <a:lstStyle/>
          <a:p>
            <a:r>
              <a:rPr lang="it-IT"/>
              <a:t>Campo facoltativo e personalizzabile (inserire dal Tab INSERISCI &gt; intestazione e piè di pagina&gt; piè di pagina &gt;applica a tutte)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4950" y="2887039"/>
            <a:ext cx="3400570" cy="2106202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58D49EF2-5E35-412C-A5DD-2A6A604FC3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79792" y="2887039"/>
            <a:ext cx="3400570" cy="2106202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2E32AEAB-53EF-4B9D-AE36-D26FBF01B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04950" y="2239963"/>
            <a:ext cx="3400425" cy="441325"/>
          </a:xfrm>
        </p:spPr>
        <p:txBody>
          <a:bodyPr anchor="b">
            <a:noAutofit/>
          </a:bodyPr>
          <a:lstStyle>
            <a:lvl1pPr>
              <a:defRPr sz="16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16" name="Segnaposto testo 9">
            <a:extLst>
              <a:ext uri="{FF2B5EF4-FFF2-40B4-BE49-F238E27FC236}">
                <a16:creationId xmlns:a16="http://schemas.microsoft.com/office/drawing/2014/main" id="{8BDCC8A1-442C-4890-928F-754837D401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79792" y="2239963"/>
            <a:ext cx="3400425" cy="441325"/>
          </a:xfrm>
        </p:spPr>
        <p:txBody>
          <a:bodyPr anchor="b">
            <a:noAutofit/>
          </a:bodyPr>
          <a:lstStyle>
            <a:lvl1pPr>
              <a:defRPr sz="16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1878624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ina grafica _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o 16">
            <a:extLst>
              <a:ext uri="{FF2B5EF4-FFF2-40B4-BE49-F238E27FC236}">
                <a16:creationId xmlns:a16="http://schemas.microsoft.com/office/drawing/2014/main" id="{DCF77920-E824-44B3-85EA-05F2EDB6BF3F}"/>
              </a:ext>
            </a:extLst>
          </p:cNvPr>
          <p:cNvGrpSpPr/>
          <p:nvPr userDrawn="1"/>
        </p:nvGrpSpPr>
        <p:grpSpPr>
          <a:xfrm>
            <a:off x="4176734" y="1982590"/>
            <a:ext cx="3851031" cy="4875409"/>
            <a:chOff x="4176734" y="0"/>
            <a:chExt cx="3851031" cy="6858000"/>
          </a:xfrm>
        </p:grpSpPr>
        <p:cxnSp>
          <p:nvCxnSpPr>
            <p:cNvPr id="18" name="Connettore diritto 17">
              <a:extLst>
                <a:ext uri="{FF2B5EF4-FFF2-40B4-BE49-F238E27FC236}">
                  <a16:creationId xmlns:a16="http://schemas.microsoft.com/office/drawing/2014/main" id="{CB615DED-059D-4796-99B1-A05563D44C0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76734" y="0"/>
              <a:ext cx="0" cy="6858000"/>
            </a:xfrm>
            <a:prstGeom prst="line">
              <a:avLst/>
            </a:prstGeom>
            <a:ln w="6350">
              <a:solidFill>
                <a:schemeClr val="accent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diritto 18">
              <a:extLst>
                <a:ext uri="{FF2B5EF4-FFF2-40B4-BE49-F238E27FC236}">
                  <a16:creationId xmlns:a16="http://schemas.microsoft.com/office/drawing/2014/main" id="{92005C28-C91C-45A7-A685-8802C446CB6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027765" y="0"/>
              <a:ext cx="0" cy="6858000"/>
            </a:xfrm>
            <a:prstGeom prst="line">
              <a:avLst/>
            </a:prstGeom>
            <a:ln w="6350">
              <a:solidFill>
                <a:schemeClr val="accent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CE81B289-B295-4C91-973A-E265802F8343}"/>
              </a:ext>
            </a:extLst>
          </p:cNvPr>
          <p:cNvCxnSpPr>
            <a:cxnSpLocks/>
          </p:cNvCxnSpPr>
          <p:nvPr userDrawn="1"/>
        </p:nvCxnSpPr>
        <p:spPr>
          <a:xfrm>
            <a:off x="0" y="1982591"/>
            <a:ext cx="12192000" cy="0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POLITECNICO DI MILANO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598263" cy="365125"/>
          </a:xfrm>
          <a:prstGeom prst="rect">
            <a:avLst/>
          </a:prstGeom>
        </p:spPr>
        <p:txBody>
          <a:bodyPr/>
          <a:lstStyle/>
          <a:p>
            <a:r>
              <a:rPr lang="it-IT"/>
              <a:t>Campo facoltativo e personalizzabile (inserire dal Tab INSERISCI &gt; intestazione e piè di pagina&gt; piè di pagina &gt;applica a tutte)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8620" y="2887039"/>
            <a:ext cx="3100906" cy="3602662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2E32AEAB-53EF-4B9D-AE36-D26FBF01B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8643" y="2239963"/>
            <a:ext cx="3100906" cy="441325"/>
          </a:xfrm>
        </p:spPr>
        <p:txBody>
          <a:bodyPr anchor="b">
            <a:noAutofit/>
          </a:bodyPr>
          <a:lstStyle>
            <a:lvl1pPr>
              <a:defRPr sz="16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0" name="Segnaposto testo 6">
            <a:extLst>
              <a:ext uri="{FF2B5EF4-FFF2-40B4-BE49-F238E27FC236}">
                <a16:creationId xmlns:a16="http://schemas.microsoft.com/office/drawing/2014/main" id="{0C5DB749-C07B-4557-8B31-C5C44DDA999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51535" y="2887039"/>
            <a:ext cx="3100906" cy="3602662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Segnaposto testo 9">
            <a:extLst>
              <a:ext uri="{FF2B5EF4-FFF2-40B4-BE49-F238E27FC236}">
                <a16:creationId xmlns:a16="http://schemas.microsoft.com/office/drawing/2014/main" id="{642D4EEC-FAC4-4C46-BB9F-3BA54588E4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51558" y="2239963"/>
            <a:ext cx="3100906" cy="441325"/>
          </a:xfrm>
        </p:spPr>
        <p:txBody>
          <a:bodyPr anchor="b">
            <a:noAutofit/>
          </a:bodyPr>
          <a:lstStyle>
            <a:lvl1pPr>
              <a:defRPr sz="16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2" name="Segnaposto testo 6">
            <a:extLst>
              <a:ext uri="{FF2B5EF4-FFF2-40B4-BE49-F238E27FC236}">
                <a16:creationId xmlns:a16="http://schemas.microsoft.com/office/drawing/2014/main" id="{8310C023-87FF-43B4-9428-3E2652BDB8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76189" y="2887039"/>
            <a:ext cx="3100906" cy="3602662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Segnaposto testo 9">
            <a:extLst>
              <a:ext uri="{FF2B5EF4-FFF2-40B4-BE49-F238E27FC236}">
                <a16:creationId xmlns:a16="http://schemas.microsoft.com/office/drawing/2014/main" id="{0FB8C8B8-D4F7-4669-8F3B-F456A7ECFC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76212" y="2239963"/>
            <a:ext cx="3100906" cy="441325"/>
          </a:xfrm>
        </p:spPr>
        <p:txBody>
          <a:bodyPr anchor="b">
            <a:noAutofit/>
          </a:bodyPr>
          <a:lstStyle>
            <a:lvl1pPr>
              <a:defRPr sz="16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30384870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ina grafica _ 4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uppo 29">
            <a:extLst>
              <a:ext uri="{FF2B5EF4-FFF2-40B4-BE49-F238E27FC236}">
                <a16:creationId xmlns:a16="http://schemas.microsoft.com/office/drawing/2014/main" id="{8C804B3B-AD2E-43B7-A236-4B70FBB66BF5}"/>
              </a:ext>
            </a:extLst>
          </p:cNvPr>
          <p:cNvGrpSpPr/>
          <p:nvPr userDrawn="1"/>
        </p:nvGrpSpPr>
        <p:grpSpPr>
          <a:xfrm>
            <a:off x="3216275" y="1982591"/>
            <a:ext cx="5753528" cy="4875409"/>
            <a:chOff x="3216275" y="-24549"/>
            <a:chExt cx="5753528" cy="6882549"/>
          </a:xfrm>
        </p:grpSpPr>
        <p:cxnSp>
          <p:nvCxnSpPr>
            <p:cNvPr id="31" name="Connettore diritto 30">
              <a:extLst>
                <a:ext uri="{FF2B5EF4-FFF2-40B4-BE49-F238E27FC236}">
                  <a16:creationId xmlns:a16="http://schemas.microsoft.com/office/drawing/2014/main" id="{44FAA9BE-8AF8-49B0-92FC-678C2D2924A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24549"/>
              <a:ext cx="0" cy="6882549"/>
            </a:xfrm>
            <a:prstGeom prst="line">
              <a:avLst/>
            </a:prstGeom>
            <a:ln w="6350">
              <a:solidFill>
                <a:schemeClr val="accent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diritto 31">
              <a:extLst>
                <a:ext uri="{FF2B5EF4-FFF2-40B4-BE49-F238E27FC236}">
                  <a16:creationId xmlns:a16="http://schemas.microsoft.com/office/drawing/2014/main" id="{E563AC02-AAB4-4E22-88B1-7040959183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216275" y="-24549"/>
              <a:ext cx="0" cy="6882549"/>
            </a:xfrm>
            <a:prstGeom prst="line">
              <a:avLst/>
            </a:prstGeom>
            <a:ln w="6350">
              <a:solidFill>
                <a:schemeClr val="accent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diritto 32">
              <a:extLst>
                <a:ext uri="{FF2B5EF4-FFF2-40B4-BE49-F238E27FC236}">
                  <a16:creationId xmlns:a16="http://schemas.microsoft.com/office/drawing/2014/main" id="{F723C070-52A1-4662-85E9-0FE98E37EC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69803" y="-24549"/>
              <a:ext cx="0" cy="6882549"/>
            </a:xfrm>
            <a:prstGeom prst="line">
              <a:avLst/>
            </a:prstGeom>
            <a:ln w="6350">
              <a:solidFill>
                <a:schemeClr val="accent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Connettore diritto 34">
            <a:extLst>
              <a:ext uri="{FF2B5EF4-FFF2-40B4-BE49-F238E27FC236}">
                <a16:creationId xmlns:a16="http://schemas.microsoft.com/office/drawing/2014/main" id="{CA8ECBF8-204B-4371-89C9-ED0E38546FF7}"/>
              </a:ext>
            </a:extLst>
          </p:cNvPr>
          <p:cNvCxnSpPr>
            <a:cxnSpLocks/>
          </p:cNvCxnSpPr>
          <p:nvPr userDrawn="1"/>
        </p:nvCxnSpPr>
        <p:spPr>
          <a:xfrm>
            <a:off x="0" y="1982591"/>
            <a:ext cx="12192000" cy="0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POLITECNICO DI MILANO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598263" cy="365125"/>
          </a:xfrm>
          <a:prstGeom prst="rect">
            <a:avLst/>
          </a:prstGeom>
        </p:spPr>
        <p:txBody>
          <a:bodyPr/>
          <a:lstStyle/>
          <a:p>
            <a:r>
              <a:rPr lang="it-IT"/>
              <a:t>Campo facoltativo e personalizzabile (inserire dal Tab INSERISCI &gt; intestazione e piè di pagina&gt; piè di pagina &gt;applica a tutte)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8620" y="2887039"/>
            <a:ext cx="2503621" cy="360266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2E32AEAB-53EF-4B9D-AE36-D26FBF01B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8643" y="2239963"/>
            <a:ext cx="2503514" cy="441325"/>
          </a:xfrm>
        </p:spPr>
        <p:txBody>
          <a:bodyPr anchor="b">
            <a:no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769E06E2-5F0D-4920-A3E9-64AE757EB613}"/>
              </a:ext>
            </a:extLst>
          </p:cNvPr>
          <p:cNvSpPr/>
          <p:nvPr userDrawn="1"/>
        </p:nvSpPr>
        <p:spPr>
          <a:xfrm>
            <a:off x="339511" y="3544304"/>
            <a:ext cx="2869255" cy="2945397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it-IT" sz="1400"/>
          </a:p>
        </p:txBody>
      </p:sp>
      <p:sp>
        <p:nvSpPr>
          <p:cNvPr id="21" name="Segnaposto testo 6">
            <a:extLst>
              <a:ext uri="{FF2B5EF4-FFF2-40B4-BE49-F238E27FC236}">
                <a16:creationId xmlns:a16="http://schemas.microsoft.com/office/drawing/2014/main" id="{4DA14660-E3DE-4786-8628-2BDB623B542F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3414561" y="2887039"/>
            <a:ext cx="2503621" cy="360266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egnaposto testo 9">
            <a:extLst>
              <a:ext uri="{FF2B5EF4-FFF2-40B4-BE49-F238E27FC236}">
                <a16:creationId xmlns:a16="http://schemas.microsoft.com/office/drawing/2014/main" id="{38062A0A-3D00-4F2E-A78C-520C7A8814B0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414584" y="2239963"/>
            <a:ext cx="2503514" cy="441325"/>
          </a:xfrm>
        </p:spPr>
        <p:txBody>
          <a:bodyPr anchor="b">
            <a:no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3" name="Segnaposto testo 6">
            <a:extLst>
              <a:ext uri="{FF2B5EF4-FFF2-40B4-BE49-F238E27FC236}">
                <a16:creationId xmlns:a16="http://schemas.microsoft.com/office/drawing/2014/main" id="{3FA3924C-C133-43D4-9617-6E7333D996FB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6250229" y="2887039"/>
            <a:ext cx="2503621" cy="360266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Segnaposto testo 9">
            <a:extLst>
              <a:ext uri="{FF2B5EF4-FFF2-40B4-BE49-F238E27FC236}">
                <a16:creationId xmlns:a16="http://schemas.microsoft.com/office/drawing/2014/main" id="{4F293ED1-7D64-49B8-81A0-5F5FB11E3592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250252" y="2239963"/>
            <a:ext cx="2503514" cy="441325"/>
          </a:xfrm>
        </p:spPr>
        <p:txBody>
          <a:bodyPr anchor="b">
            <a:no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34980872-E501-48A5-8B13-B7016BEEE029}"/>
              </a:ext>
            </a:extLst>
          </p:cNvPr>
          <p:cNvSpPr>
            <a:spLocks noGrp="1"/>
          </p:cNvSpPr>
          <p:nvPr userDrawn="1">
            <p:ph type="body" sz="quarter" idx="20"/>
          </p:nvPr>
        </p:nvSpPr>
        <p:spPr>
          <a:xfrm>
            <a:off x="9157816" y="2887039"/>
            <a:ext cx="2503621" cy="360266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Segnaposto testo 9">
            <a:extLst>
              <a:ext uri="{FF2B5EF4-FFF2-40B4-BE49-F238E27FC236}">
                <a16:creationId xmlns:a16="http://schemas.microsoft.com/office/drawing/2014/main" id="{7359F283-E0AA-4871-A428-A58C8F3F0AAC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9157839" y="2239963"/>
            <a:ext cx="2503514" cy="441325"/>
          </a:xfrm>
        </p:spPr>
        <p:txBody>
          <a:bodyPr anchor="b">
            <a:no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101D1BE9-9067-430D-A318-4BC1405F006A}"/>
              </a:ext>
            </a:extLst>
          </p:cNvPr>
          <p:cNvSpPr/>
          <p:nvPr userDrawn="1"/>
        </p:nvSpPr>
        <p:spPr>
          <a:xfrm>
            <a:off x="3223388" y="3544304"/>
            <a:ext cx="2869255" cy="2945397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it-IT" sz="1400"/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F88114C5-1930-4807-8B76-4565A5FFB9B5}"/>
              </a:ext>
            </a:extLst>
          </p:cNvPr>
          <p:cNvSpPr/>
          <p:nvPr userDrawn="1"/>
        </p:nvSpPr>
        <p:spPr>
          <a:xfrm>
            <a:off x="6089680" y="3544304"/>
            <a:ext cx="2869255" cy="2945397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it-IT" sz="1400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E2D6333A-9B81-4325-A926-22F5E403D75F}"/>
              </a:ext>
            </a:extLst>
          </p:cNvPr>
          <p:cNvSpPr/>
          <p:nvPr userDrawn="1"/>
        </p:nvSpPr>
        <p:spPr>
          <a:xfrm>
            <a:off x="8964764" y="3544304"/>
            <a:ext cx="2869255" cy="2945397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it-IT" sz="1400"/>
          </a:p>
        </p:txBody>
      </p:sp>
    </p:spTree>
    <p:extLst>
      <p:ext uri="{BB962C8B-B14F-4D97-AF65-F5344CB8AC3E}">
        <p14:creationId xmlns:p14="http://schemas.microsoft.com/office/powerpoint/2010/main" val="23911383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Evidenza _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325365"/>
            <a:ext cx="11522075" cy="4222679"/>
          </a:xfrm>
        </p:spPr>
        <p:txBody>
          <a:bodyPr anchor="ctr"/>
          <a:lstStyle>
            <a:lvl1pPr>
              <a:defRPr sz="4000" b="0"/>
            </a:lvl1pPr>
          </a:lstStyle>
          <a:p>
            <a:r>
              <a:rPr lang="it-IT" dirty="0"/>
              <a:t>Inserire testo in evidenza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POLITECNICO DI MILANO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598263" cy="365125"/>
          </a:xfrm>
          <a:prstGeom prst="rect">
            <a:avLst/>
          </a:prstGeom>
        </p:spPr>
        <p:txBody>
          <a:bodyPr/>
          <a:lstStyle/>
          <a:p>
            <a:r>
              <a:rPr lang="it-IT"/>
              <a:t>Campo facoltativo e personalizzabile (inserire dal Tab INSERISCI &gt; intestazione e piè di pagina&gt; piè di pagina &gt;applica a tutte)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6FCB4558-5B0B-4E68-99C0-73044CD4F7EE}"/>
              </a:ext>
            </a:extLst>
          </p:cNvPr>
          <p:cNvSpPr/>
          <p:nvPr userDrawn="1"/>
        </p:nvSpPr>
        <p:spPr>
          <a:xfrm>
            <a:off x="-1366766" y="1325366"/>
            <a:ext cx="4222679" cy="4222679"/>
          </a:xfrm>
          <a:prstGeom prst="ellipse">
            <a:avLst/>
          </a:prstGeom>
          <a:noFill/>
          <a:ln w="9525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5CD3E5C6-1FD7-4A9E-A65F-282056577FB3}"/>
              </a:ext>
            </a:extLst>
          </p:cNvPr>
          <p:cNvCxnSpPr>
            <a:cxnSpLocks/>
          </p:cNvCxnSpPr>
          <p:nvPr userDrawn="1"/>
        </p:nvCxnSpPr>
        <p:spPr>
          <a:xfrm>
            <a:off x="0" y="1325366"/>
            <a:ext cx="12192000" cy="0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D9DB920E-F5AB-4AF8-BFFC-D380A2D7FEAE}"/>
              </a:ext>
            </a:extLst>
          </p:cNvPr>
          <p:cNvCxnSpPr>
            <a:cxnSpLocks/>
          </p:cNvCxnSpPr>
          <p:nvPr userDrawn="1"/>
        </p:nvCxnSpPr>
        <p:spPr>
          <a:xfrm>
            <a:off x="0" y="5548045"/>
            <a:ext cx="12192000" cy="0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028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Evidenza _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771" y="1775639"/>
            <a:ext cx="10664455" cy="2317896"/>
          </a:xfrm>
          <a:ln>
            <a:noFill/>
          </a:ln>
        </p:spPr>
        <p:txBody>
          <a:bodyPr anchor="b"/>
          <a:lstStyle>
            <a:lvl1pPr algn="ctr"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Inserire testo in evidenza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POLITECNICO DI MILANO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59826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Campo facoltativo e personalizzabile (inserire dal Tab INSERISCI &gt; intestazione e piè di pagina&gt; piè di pagina &gt;applica a tutte)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6FCB4558-5B0B-4E68-99C0-73044CD4F7EE}"/>
              </a:ext>
            </a:extLst>
          </p:cNvPr>
          <p:cNvSpPr/>
          <p:nvPr userDrawn="1"/>
        </p:nvSpPr>
        <p:spPr>
          <a:xfrm>
            <a:off x="3233122" y="757946"/>
            <a:ext cx="5725755" cy="5725755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5CD3E5C6-1FD7-4A9E-A65F-282056577FB3}"/>
              </a:ext>
            </a:extLst>
          </p:cNvPr>
          <p:cNvCxnSpPr>
            <a:cxnSpLocks/>
          </p:cNvCxnSpPr>
          <p:nvPr userDrawn="1"/>
        </p:nvCxnSpPr>
        <p:spPr>
          <a:xfrm>
            <a:off x="0" y="729943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D9DB920E-F5AB-4AF8-BFFC-D380A2D7FEAE}"/>
              </a:ext>
            </a:extLst>
          </p:cNvPr>
          <p:cNvCxnSpPr>
            <a:cxnSpLocks/>
          </p:cNvCxnSpPr>
          <p:nvPr userDrawn="1"/>
        </p:nvCxnSpPr>
        <p:spPr>
          <a:xfrm>
            <a:off x="0" y="6483710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5FA801A9-B23D-4656-8AFA-3E413EDFA6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3588" y="4536830"/>
            <a:ext cx="10664825" cy="6019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61244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bg>
      <p:bgPr>
        <a:gradFill>
          <a:gsLst>
            <a:gs pos="0">
              <a:schemeClr val="tx1"/>
            </a:gs>
            <a:gs pos="100000">
              <a:srgbClr val="102C5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 / Titolo / Docente  |  00. 00. 0000">
            <a:extLst>
              <a:ext uri="{FF2B5EF4-FFF2-40B4-BE49-F238E27FC236}">
                <a16:creationId xmlns:a16="http://schemas.microsoft.com/office/drawing/2014/main" id="{99FF4CA3-BA67-0511-3FE3-11769597A30E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>
              <a:lnSpc>
                <a:spcPct val="100000"/>
              </a:lnSpc>
              <a:defRPr sz="1200">
                <a:solidFill>
                  <a:srgbClr val="FFFFFF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00. 00. 0000  |  Relatore</a:t>
            </a:r>
          </a:p>
        </p:txBody>
      </p:sp>
      <p:sp>
        <p:nvSpPr>
          <p:cNvPr id="3" name="Titolo 5">
            <a:extLst>
              <a:ext uri="{FF2B5EF4-FFF2-40B4-BE49-F238E27FC236}">
                <a16:creationId xmlns:a16="http://schemas.microsoft.com/office/drawing/2014/main" id="{5660309B-4011-4FF9-71E9-5BC51EF56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287" y="2853390"/>
            <a:ext cx="6768473" cy="2324100"/>
          </a:xfrm>
        </p:spPr>
        <p:txBody>
          <a:bodyPr lIns="0" tIns="360000" rIns="0" bIns="0" anchor="t"/>
          <a:lstStyle>
            <a:lvl1pPr>
              <a:defRPr lang="it-IT" dirty="0"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Inserire titolo</a:t>
            </a:r>
          </a:p>
        </p:txBody>
      </p:sp>
      <p:sp>
        <p:nvSpPr>
          <p:cNvPr id="5" name="Cerchio">
            <a:extLst>
              <a:ext uri="{FF2B5EF4-FFF2-40B4-BE49-F238E27FC236}">
                <a16:creationId xmlns:a16="http://schemas.microsoft.com/office/drawing/2014/main" id="{5F9D2376-F92C-70CC-7E4A-0F195E3EA543}"/>
              </a:ext>
            </a:extLst>
          </p:cNvPr>
          <p:cNvSpPr/>
          <p:nvPr userDrawn="1"/>
        </p:nvSpPr>
        <p:spPr>
          <a:xfrm rot="10800000">
            <a:off x="7559558" y="-1156784"/>
            <a:ext cx="4010434" cy="4010172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30368"/>
                </a:srgbClr>
              </a:gs>
              <a:gs pos="13661">
                <a:srgbClr val="8896A9">
                  <a:alpha val="15184"/>
                </a:srgb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 dirty="0"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6" name="Cerchio">
            <a:extLst>
              <a:ext uri="{FF2B5EF4-FFF2-40B4-BE49-F238E27FC236}">
                <a16:creationId xmlns:a16="http://schemas.microsoft.com/office/drawing/2014/main" id="{A0BCD1D3-187F-0F81-48F7-30E4CB14B416}"/>
              </a:ext>
            </a:extLst>
          </p:cNvPr>
          <p:cNvSpPr/>
          <p:nvPr userDrawn="1"/>
        </p:nvSpPr>
        <p:spPr>
          <a:xfrm>
            <a:off x="7559558" y="2853390"/>
            <a:ext cx="4010432" cy="4010171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30000"/>
                </a:srgbClr>
              </a:gs>
              <a:gs pos="13661">
                <a:srgbClr val="8896A9">
                  <a:alpha val="14846"/>
                </a:srgb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>
                    <a:alpha val="20092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 dirty="0">
              <a:latin typeface="Manrope" pitchFamily="2" charset="0"/>
              <a:cs typeface="Arial" panose="020B0604020202020204" pitchFamily="34" charset="0"/>
            </a:endParaRP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2B7B3A0A-3A1B-42DE-B9AE-23655BAD3745}"/>
              </a:ext>
            </a:extLst>
          </p:cNvPr>
          <p:cNvCxnSpPr>
            <a:cxnSpLocks/>
          </p:cNvCxnSpPr>
          <p:nvPr userDrawn="1"/>
        </p:nvCxnSpPr>
        <p:spPr>
          <a:xfrm>
            <a:off x="11569992" y="0"/>
            <a:ext cx="0" cy="6858000"/>
          </a:xfrm>
          <a:prstGeom prst="line">
            <a:avLst/>
          </a:prstGeom>
          <a:ln w="6350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FD11F552-5459-4905-94FE-760C82166453}"/>
              </a:ext>
            </a:extLst>
          </p:cNvPr>
          <p:cNvCxnSpPr>
            <a:cxnSpLocks/>
          </p:cNvCxnSpPr>
          <p:nvPr userDrawn="1"/>
        </p:nvCxnSpPr>
        <p:spPr>
          <a:xfrm>
            <a:off x="7559558" y="0"/>
            <a:ext cx="0" cy="6858000"/>
          </a:xfrm>
          <a:prstGeom prst="line">
            <a:avLst/>
          </a:prstGeom>
          <a:ln w="6350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FFD66269-DBF7-485E-8F18-092A9E8BABC4}"/>
              </a:ext>
            </a:extLst>
          </p:cNvPr>
          <p:cNvCxnSpPr>
            <a:cxnSpLocks/>
          </p:cNvCxnSpPr>
          <p:nvPr userDrawn="1"/>
        </p:nvCxnSpPr>
        <p:spPr>
          <a:xfrm>
            <a:off x="0" y="2853390"/>
            <a:ext cx="12192000" cy="0"/>
          </a:xfrm>
          <a:prstGeom prst="line">
            <a:avLst/>
          </a:prstGeom>
          <a:ln w="6350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Elemento grafico 13">
            <a:extLst>
              <a:ext uri="{FF2B5EF4-FFF2-40B4-BE49-F238E27FC236}">
                <a16:creationId xmlns:a16="http://schemas.microsoft.com/office/drawing/2014/main" id="{96DD59D6-FA30-4BBD-9323-B5B02742E0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5306" y="554831"/>
            <a:ext cx="2088000" cy="67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5856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">
    <p:bg>
      <p:bgPr>
        <a:gradFill>
          <a:gsLst>
            <a:gs pos="0">
              <a:schemeClr val="tx1"/>
            </a:gs>
            <a:gs pos="100000">
              <a:srgbClr val="102C5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e 35">
            <a:extLst>
              <a:ext uri="{FF2B5EF4-FFF2-40B4-BE49-F238E27FC236}">
                <a16:creationId xmlns:a16="http://schemas.microsoft.com/office/drawing/2014/main" id="{51B3AA80-97EC-50CB-4FE0-29FF43A159AF}"/>
              </a:ext>
            </a:extLst>
          </p:cNvPr>
          <p:cNvSpPr/>
          <p:nvPr userDrawn="1"/>
        </p:nvSpPr>
        <p:spPr>
          <a:xfrm>
            <a:off x="2609" y="-5443635"/>
            <a:ext cx="10887979" cy="10887270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1100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 dirty="0">
              <a:latin typeface="Manrope" pitchFamily="2" charset="0"/>
            </a:endParaRPr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0F01AAD3-5366-6929-C4BA-2E51CD3F31D4}"/>
              </a:ext>
            </a:extLst>
          </p:cNvPr>
          <p:cNvSpPr/>
          <p:nvPr userDrawn="1"/>
        </p:nvSpPr>
        <p:spPr>
          <a:xfrm rot="19314398">
            <a:off x="2609" y="5468773"/>
            <a:ext cx="10887979" cy="10887270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10301"/>
                </a:schemeClr>
              </a:gs>
              <a:gs pos="82000">
                <a:schemeClr val="accent3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Linea">
            <a:extLst>
              <a:ext uri="{FF2B5EF4-FFF2-40B4-BE49-F238E27FC236}">
                <a16:creationId xmlns:a16="http://schemas.microsoft.com/office/drawing/2014/main" id="{2889EA06-D03D-AD37-B610-762B18DC9D96}"/>
              </a:ext>
            </a:extLst>
          </p:cNvPr>
          <p:cNvSpPr/>
          <p:nvPr userDrawn="1"/>
        </p:nvSpPr>
        <p:spPr>
          <a:xfrm rot="10800000" flipH="1">
            <a:off x="10895557" y="1057"/>
            <a:ext cx="1" cy="6855889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399" tIns="25399" rIns="25399" bIns="25399" anchor="ctr"/>
          <a:lstStyle/>
          <a:p>
            <a:endParaRPr sz="1200" dirty="0">
              <a:latin typeface="Manrope" pitchFamily="2" charset="0"/>
            </a:endParaRPr>
          </a:p>
        </p:txBody>
      </p:sp>
      <p:sp>
        <p:nvSpPr>
          <p:cNvPr id="11" name="Linea">
            <a:extLst>
              <a:ext uri="{FF2B5EF4-FFF2-40B4-BE49-F238E27FC236}">
                <a16:creationId xmlns:a16="http://schemas.microsoft.com/office/drawing/2014/main" id="{1C01A8D5-245E-26D8-2ECA-82D4764647AF}"/>
              </a:ext>
            </a:extLst>
          </p:cNvPr>
          <p:cNvSpPr/>
          <p:nvPr userDrawn="1"/>
        </p:nvSpPr>
        <p:spPr>
          <a:xfrm rot="10800000">
            <a:off x="-3064" y="5436688"/>
            <a:ext cx="12198128" cy="1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399" tIns="25399" rIns="25399" bIns="25399" anchor="ctr"/>
          <a:lstStyle/>
          <a:p>
            <a:endParaRPr sz="1200" dirty="0">
              <a:latin typeface="Manrope" pitchFamily="2" charset="0"/>
            </a:endParaRPr>
          </a:p>
        </p:txBody>
      </p:sp>
      <p:sp>
        <p:nvSpPr>
          <p:cNvPr id="24" name="Titolo 5">
            <a:extLst>
              <a:ext uri="{FF2B5EF4-FFF2-40B4-BE49-F238E27FC236}">
                <a16:creationId xmlns:a16="http://schemas.microsoft.com/office/drawing/2014/main" id="{7A3C36CA-9D5D-490C-3E31-571AF7EC5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376" y="2970949"/>
            <a:ext cx="10297220" cy="1979441"/>
          </a:xfrm>
          <a:prstGeom prst="rect">
            <a:avLst/>
          </a:prstGeom>
        </p:spPr>
        <p:txBody>
          <a:bodyPr lIns="0" tIns="360000" rIns="0" bIns="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Inserire titolo</a:t>
            </a:r>
            <a:br>
              <a:rPr lang="it-IT" dirty="0"/>
            </a:br>
            <a:r>
              <a:rPr lang="it-IT" dirty="0"/>
              <a:t>Presentazione</a:t>
            </a:r>
          </a:p>
        </p:txBody>
      </p:sp>
      <p:sp>
        <p:nvSpPr>
          <p:cNvPr id="25" name="Tema / Titolo / Docente  |  00. 00. 0000">
            <a:extLst>
              <a:ext uri="{FF2B5EF4-FFF2-40B4-BE49-F238E27FC236}">
                <a16:creationId xmlns:a16="http://schemas.microsoft.com/office/drawing/2014/main" id="{A4A528BE-7AD2-13B5-15DC-484153FDCFB1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00. 00. 0000  |  Relatore</a:t>
            </a:r>
          </a:p>
        </p:txBody>
      </p:sp>
      <p:pic>
        <p:nvPicPr>
          <p:cNvPr id="14" name="Elemento grafico 13">
            <a:extLst>
              <a:ext uri="{FF2B5EF4-FFF2-40B4-BE49-F238E27FC236}">
                <a16:creationId xmlns:a16="http://schemas.microsoft.com/office/drawing/2014/main" id="{606C5E15-79D3-4DBA-B886-216D082B12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5306" y="554831"/>
            <a:ext cx="2088000" cy="67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5012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bg>
      <p:bgPr>
        <a:gradFill>
          <a:gsLst>
            <a:gs pos="68000">
              <a:schemeClr val="accent3"/>
            </a:gs>
            <a:gs pos="100000">
              <a:schemeClr val="bg1"/>
            </a:gs>
            <a:gs pos="27000">
              <a:schemeClr val="accent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">
            <a:extLst>
              <a:ext uri="{FF2B5EF4-FFF2-40B4-BE49-F238E27FC236}">
                <a16:creationId xmlns:a16="http://schemas.microsoft.com/office/drawing/2014/main" id="{5904BB58-3F14-9C88-2C51-FC53AD74ECDB}"/>
              </a:ext>
            </a:extLst>
          </p:cNvPr>
          <p:cNvSpPr/>
          <p:nvPr userDrawn="1"/>
        </p:nvSpPr>
        <p:spPr>
          <a:xfrm>
            <a:off x="-13900" y="5890078"/>
            <a:ext cx="12220596" cy="97807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algn="ctr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grpSp>
        <p:nvGrpSpPr>
          <p:cNvPr id="35" name="Raggruppa">
            <a:extLst>
              <a:ext uri="{FF2B5EF4-FFF2-40B4-BE49-F238E27FC236}">
                <a16:creationId xmlns:a16="http://schemas.microsoft.com/office/drawing/2014/main" id="{10E0AFDC-3F66-1CFB-E987-27D87A91FC3E}"/>
              </a:ext>
            </a:extLst>
          </p:cNvPr>
          <p:cNvGrpSpPr/>
          <p:nvPr userDrawn="1"/>
        </p:nvGrpSpPr>
        <p:grpSpPr>
          <a:xfrm>
            <a:off x="2454737" y="6112429"/>
            <a:ext cx="774301" cy="512711"/>
            <a:chOff x="55030" y="-1"/>
            <a:chExt cx="1548497" cy="1025419"/>
          </a:xfrm>
        </p:grpSpPr>
        <p:sp>
          <p:nvSpPr>
            <p:cNvPr id="36" name="Dicitura 01">
              <a:extLst>
                <a:ext uri="{FF2B5EF4-FFF2-40B4-BE49-F238E27FC236}">
                  <a16:creationId xmlns:a16="http://schemas.microsoft.com/office/drawing/2014/main" id="{10073F5C-DD0F-6D06-4F37-6385373A1AB7}"/>
                </a:ext>
              </a:extLst>
            </p:cNvPr>
            <p:cNvSpPr txBox="1"/>
            <p:nvPr/>
          </p:nvSpPr>
          <p:spPr>
            <a:xfrm>
              <a:off x="55030" y="102541"/>
              <a:ext cx="1391313" cy="4821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r">
                <a:defRPr sz="2200">
                  <a:solidFill>
                    <a:srgbClr val="102C53"/>
                  </a:solidFill>
                </a:defRPr>
              </a:lvl1pPr>
            </a:lstStyle>
            <a:p>
              <a:r>
                <a:rPr sz="900" b="1" dirty="0" err="1">
                  <a:latin typeface="Manrope" pitchFamily="2" charset="0"/>
                </a:rPr>
                <a:t>Dicitura</a:t>
              </a:r>
              <a:r>
                <a:rPr sz="900" b="1" dirty="0">
                  <a:latin typeface="Manrope" pitchFamily="2" charset="0"/>
                </a:rPr>
                <a:t> 01</a:t>
              </a:r>
            </a:p>
          </p:txBody>
        </p:sp>
        <p:sp>
          <p:nvSpPr>
            <p:cNvPr id="37" name="Linea">
              <a:extLst>
                <a:ext uri="{FF2B5EF4-FFF2-40B4-BE49-F238E27FC236}">
                  <a16:creationId xmlns:a16="http://schemas.microsoft.com/office/drawing/2014/main" id="{A2D93BEA-CDAB-B761-4314-7A4D96C6DDEB}"/>
                </a:ext>
              </a:extLst>
            </p:cNvPr>
            <p:cNvSpPr/>
            <p:nvPr/>
          </p:nvSpPr>
          <p:spPr>
            <a:xfrm flipV="1">
              <a:off x="1603526" y="-1"/>
              <a:ext cx="1" cy="1025419"/>
            </a:xfrm>
            <a:prstGeom prst="line">
              <a:avLst/>
            </a:prstGeom>
            <a:noFill/>
            <a:ln w="9525" cap="flat">
              <a:solidFill>
                <a:srgbClr val="102C53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 sz="338" dirty="0">
                <a:latin typeface="Manrope" pitchFamily="2" charset="0"/>
              </a:endParaRPr>
            </a:p>
          </p:txBody>
        </p:sp>
      </p:grpSp>
      <p:grpSp>
        <p:nvGrpSpPr>
          <p:cNvPr id="38" name="Raggruppa">
            <a:extLst>
              <a:ext uri="{FF2B5EF4-FFF2-40B4-BE49-F238E27FC236}">
                <a16:creationId xmlns:a16="http://schemas.microsoft.com/office/drawing/2014/main" id="{56DCEED6-6F0E-CCBB-2279-C15A32771039}"/>
              </a:ext>
            </a:extLst>
          </p:cNvPr>
          <p:cNvGrpSpPr/>
          <p:nvPr userDrawn="1"/>
        </p:nvGrpSpPr>
        <p:grpSpPr>
          <a:xfrm>
            <a:off x="6067169" y="6112429"/>
            <a:ext cx="790072" cy="512711"/>
            <a:chOff x="70058" y="-1"/>
            <a:chExt cx="1580036" cy="1025419"/>
          </a:xfrm>
        </p:grpSpPr>
        <p:sp>
          <p:nvSpPr>
            <p:cNvPr id="39" name="Dicitura 02">
              <a:extLst>
                <a:ext uri="{FF2B5EF4-FFF2-40B4-BE49-F238E27FC236}">
                  <a16:creationId xmlns:a16="http://schemas.microsoft.com/office/drawing/2014/main" id="{65F304E2-7E9C-B774-6D16-605FDABF18A3}"/>
                </a:ext>
              </a:extLst>
            </p:cNvPr>
            <p:cNvSpPr txBox="1"/>
            <p:nvPr/>
          </p:nvSpPr>
          <p:spPr>
            <a:xfrm>
              <a:off x="70058" y="102541"/>
              <a:ext cx="1426577" cy="4821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r">
                <a:defRPr sz="2200">
                  <a:solidFill>
                    <a:srgbClr val="102C53"/>
                  </a:solidFill>
                </a:defRPr>
              </a:lvl1pPr>
            </a:lstStyle>
            <a:p>
              <a:r>
                <a:rPr sz="900" b="1" dirty="0" err="1">
                  <a:latin typeface="Manrope" pitchFamily="2" charset="0"/>
                </a:rPr>
                <a:t>Dicitura</a:t>
              </a:r>
              <a:r>
                <a:rPr sz="900" b="1" dirty="0">
                  <a:latin typeface="Manrope" pitchFamily="2" charset="0"/>
                </a:rPr>
                <a:t> 02</a:t>
              </a:r>
            </a:p>
          </p:txBody>
        </p:sp>
        <p:sp>
          <p:nvSpPr>
            <p:cNvPr id="40" name="Linea">
              <a:extLst>
                <a:ext uri="{FF2B5EF4-FFF2-40B4-BE49-F238E27FC236}">
                  <a16:creationId xmlns:a16="http://schemas.microsoft.com/office/drawing/2014/main" id="{0D3513D8-03DF-07FB-C95C-75AB43EA944A}"/>
                </a:ext>
              </a:extLst>
            </p:cNvPr>
            <p:cNvSpPr/>
            <p:nvPr/>
          </p:nvSpPr>
          <p:spPr>
            <a:xfrm flipV="1">
              <a:off x="1650093" y="-1"/>
              <a:ext cx="1" cy="1025419"/>
            </a:xfrm>
            <a:prstGeom prst="line">
              <a:avLst/>
            </a:prstGeom>
            <a:noFill/>
            <a:ln w="9525" cap="flat">
              <a:solidFill>
                <a:srgbClr val="102C53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 sz="338" dirty="0">
                <a:latin typeface="Manrope" pitchFamily="2" charset="0"/>
              </a:endParaRPr>
            </a:p>
          </p:txBody>
        </p:sp>
      </p:grpSp>
      <p:grpSp>
        <p:nvGrpSpPr>
          <p:cNvPr id="41" name="Raggruppa">
            <a:extLst>
              <a:ext uri="{FF2B5EF4-FFF2-40B4-BE49-F238E27FC236}">
                <a16:creationId xmlns:a16="http://schemas.microsoft.com/office/drawing/2014/main" id="{EE4E4B32-B5F8-3F30-EE38-C91ECC226870}"/>
              </a:ext>
            </a:extLst>
          </p:cNvPr>
          <p:cNvGrpSpPr/>
          <p:nvPr userDrawn="1"/>
        </p:nvGrpSpPr>
        <p:grpSpPr>
          <a:xfrm>
            <a:off x="7104925" y="6152538"/>
            <a:ext cx="979517" cy="453158"/>
            <a:chOff x="60711" y="0"/>
            <a:chExt cx="1958904" cy="906313"/>
          </a:xfrm>
        </p:grpSpPr>
        <p:sp>
          <p:nvSpPr>
            <p:cNvPr id="42" name="Logo">
              <a:extLst>
                <a:ext uri="{FF2B5EF4-FFF2-40B4-BE49-F238E27FC236}">
                  <a16:creationId xmlns:a16="http://schemas.microsoft.com/office/drawing/2014/main" id="{01F912F9-4CA7-0309-4362-4AE504D449B0}"/>
                </a:ext>
              </a:extLst>
            </p:cNvPr>
            <p:cNvSpPr txBox="1"/>
            <p:nvPr/>
          </p:nvSpPr>
          <p:spPr>
            <a:xfrm>
              <a:off x="996967" y="135122"/>
              <a:ext cx="1022648" cy="6360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>
                  <a:solidFill>
                    <a:srgbClr val="D5D5D5"/>
                  </a:solidFill>
                </a:defRPr>
              </a:lvl1pPr>
            </a:lstStyle>
            <a:p>
              <a:r>
                <a:rPr sz="1400" dirty="0">
                  <a:latin typeface="Manrope" pitchFamily="2" charset="0"/>
                </a:rPr>
                <a:t>Logo</a:t>
              </a:r>
            </a:p>
          </p:txBody>
        </p:sp>
        <p:sp>
          <p:nvSpPr>
            <p:cNvPr id="43" name="Poligono">
              <a:extLst>
                <a:ext uri="{FF2B5EF4-FFF2-40B4-BE49-F238E27FC236}">
                  <a16:creationId xmlns:a16="http://schemas.microsoft.com/office/drawing/2014/main" id="{1A2CDB77-2460-9096-7611-C3E31F3AB038}"/>
                </a:ext>
              </a:extLst>
            </p:cNvPr>
            <p:cNvSpPr/>
            <p:nvPr/>
          </p:nvSpPr>
          <p:spPr>
            <a:xfrm>
              <a:off x="60711" y="0"/>
              <a:ext cx="784891" cy="906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5400"/>
                  </a:lnTo>
                  <a:lnTo>
                    <a:pt x="21600" y="16200"/>
                  </a:lnTo>
                  <a:lnTo>
                    <a:pt x="10800" y="21600"/>
                  </a:lnTo>
                  <a:lnTo>
                    <a:pt x="0" y="162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D5D5D5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412756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4" name="Raggruppa">
            <a:extLst>
              <a:ext uri="{FF2B5EF4-FFF2-40B4-BE49-F238E27FC236}">
                <a16:creationId xmlns:a16="http://schemas.microsoft.com/office/drawing/2014/main" id="{E9DC9E88-ED5E-A322-CEF0-BA8C7730DD17}"/>
              </a:ext>
            </a:extLst>
          </p:cNvPr>
          <p:cNvGrpSpPr/>
          <p:nvPr userDrawn="1"/>
        </p:nvGrpSpPr>
        <p:grpSpPr>
          <a:xfrm>
            <a:off x="3478116" y="6125021"/>
            <a:ext cx="2345580" cy="508191"/>
            <a:chOff x="-1" y="0"/>
            <a:chExt cx="4690853" cy="1016381"/>
          </a:xfrm>
        </p:grpSpPr>
        <p:grpSp>
          <p:nvGrpSpPr>
            <p:cNvPr id="45" name="Raggruppa">
              <a:extLst>
                <a:ext uri="{FF2B5EF4-FFF2-40B4-BE49-F238E27FC236}">
                  <a16:creationId xmlns:a16="http://schemas.microsoft.com/office/drawing/2014/main" id="{0AAB06EA-BD72-204E-2331-5ADA684865D6}"/>
                </a:ext>
              </a:extLst>
            </p:cNvPr>
            <p:cNvGrpSpPr/>
            <p:nvPr/>
          </p:nvGrpSpPr>
          <p:grpSpPr>
            <a:xfrm>
              <a:off x="-1" y="0"/>
              <a:ext cx="2032314" cy="1016381"/>
              <a:chOff x="0" y="0"/>
              <a:chExt cx="2032313" cy="1016380"/>
            </a:xfrm>
          </p:grpSpPr>
          <p:sp>
            <p:nvSpPr>
              <p:cNvPr id="49" name="Logo">
                <a:extLst>
                  <a:ext uri="{FF2B5EF4-FFF2-40B4-BE49-F238E27FC236}">
                    <a16:creationId xmlns:a16="http://schemas.microsoft.com/office/drawing/2014/main" id="{E2A46CB7-6126-FAF4-587A-DD55008E4667}"/>
                  </a:ext>
                </a:extLst>
              </p:cNvPr>
              <p:cNvSpPr txBox="1"/>
              <p:nvPr/>
            </p:nvSpPr>
            <p:spPr>
              <a:xfrm>
                <a:off x="1009665" y="190150"/>
                <a:ext cx="1022648" cy="63607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800">
                    <a:solidFill>
                      <a:srgbClr val="D5D5D5"/>
                    </a:solidFill>
                  </a:defRPr>
                </a:lvl1pPr>
              </a:lstStyle>
              <a:p>
                <a:r>
                  <a:rPr sz="1400" dirty="0">
                    <a:latin typeface="Manrope" pitchFamily="2" charset="0"/>
                  </a:rPr>
                  <a:t>Logo</a:t>
                </a:r>
              </a:p>
            </p:txBody>
          </p:sp>
          <p:sp>
            <p:nvSpPr>
              <p:cNvPr id="50" name="Triangolo">
                <a:extLst>
                  <a:ext uri="{FF2B5EF4-FFF2-40B4-BE49-F238E27FC236}">
                    <a16:creationId xmlns:a16="http://schemas.microsoft.com/office/drawing/2014/main" id="{49414913-DF6E-3124-0037-4413F4E9DBA5}"/>
                  </a:ext>
                </a:extLst>
              </p:cNvPr>
              <p:cNvSpPr/>
              <p:nvPr/>
            </p:nvSpPr>
            <p:spPr>
              <a:xfrm>
                <a:off x="0" y="0"/>
                <a:ext cx="1016380" cy="10163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D5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412756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6" name="Raggruppa">
              <a:extLst>
                <a:ext uri="{FF2B5EF4-FFF2-40B4-BE49-F238E27FC236}">
                  <a16:creationId xmlns:a16="http://schemas.microsoft.com/office/drawing/2014/main" id="{2E1D7F5F-ABE7-5DE5-9E9B-5271458A6691}"/>
                </a:ext>
              </a:extLst>
            </p:cNvPr>
            <p:cNvGrpSpPr/>
            <p:nvPr/>
          </p:nvGrpSpPr>
          <p:grpSpPr>
            <a:xfrm>
              <a:off x="2519023" y="0"/>
              <a:ext cx="2171829" cy="1016381"/>
              <a:chOff x="0" y="0"/>
              <a:chExt cx="2171826" cy="1016380"/>
            </a:xfrm>
          </p:grpSpPr>
          <p:sp>
            <p:nvSpPr>
              <p:cNvPr id="47" name="Logo">
                <a:extLst>
                  <a:ext uri="{FF2B5EF4-FFF2-40B4-BE49-F238E27FC236}">
                    <a16:creationId xmlns:a16="http://schemas.microsoft.com/office/drawing/2014/main" id="{FB792114-1E03-A8B8-F9F6-0BD1E522B30C}"/>
                  </a:ext>
                </a:extLst>
              </p:cNvPr>
              <p:cNvSpPr txBox="1"/>
              <p:nvPr/>
            </p:nvSpPr>
            <p:spPr>
              <a:xfrm>
                <a:off x="1149178" y="190150"/>
                <a:ext cx="1022648" cy="63607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800">
                    <a:solidFill>
                      <a:srgbClr val="D5D5D5"/>
                    </a:solidFill>
                  </a:defRPr>
                </a:lvl1pPr>
              </a:lstStyle>
              <a:p>
                <a:r>
                  <a:rPr sz="1400" dirty="0">
                    <a:latin typeface="Manrope" pitchFamily="2" charset="0"/>
                  </a:rPr>
                  <a:t>Logo</a:t>
                </a:r>
              </a:p>
            </p:txBody>
          </p:sp>
          <p:sp>
            <p:nvSpPr>
              <p:cNvPr id="48" name="Rettangolo arrotondato">
                <a:extLst>
                  <a:ext uri="{FF2B5EF4-FFF2-40B4-BE49-F238E27FC236}">
                    <a16:creationId xmlns:a16="http://schemas.microsoft.com/office/drawing/2014/main" id="{51D7D47B-E4A9-117B-C867-618C7B14273D}"/>
                  </a:ext>
                </a:extLst>
              </p:cNvPr>
              <p:cNvSpPr/>
              <p:nvPr/>
            </p:nvSpPr>
            <p:spPr>
              <a:xfrm>
                <a:off x="0" y="0"/>
                <a:ext cx="1016380" cy="1016380"/>
              </a:xfrm>
              <a:prstGeom prst="roundRect">
                <a:avLst>
                  <a:gd name="adj" fmla="val 9826"/>
                </a:avLst>
              </a:prstGeom>
              <a:solidFill>
                <a:srgbClr val="D5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412756">
                  <a:defRPr sz="3200">
                    <a:solidFill>
                      <a:srgbClr val="D5D5D5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2" name="Titolo 5">
            <a:extLst>
              <a:ext uri="{FF2B5EF4-FFF2-40B4-BE49-F238E27FC236}">
                <a16:creationId xmlns:a16="http://schemas.microsoft.com/office/drawing/2014/main" id="{FAD942FF-4AE3-BA4F-0D20-F8F6CDA75D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287" y="1873912"/>
            <a:ext cx="6894110" cy="2324100"/>
          </a:xfrm>
          <a:prstGeom prst="rect">
            <a:avLst/>
          </a:prstGeom>
        </p:spPr>
        <p:txBody>
          <a:bodyPr lIns="0" tIns="360000" rIns="0" bIns="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Inserire titolo</a:t>
            </a:r>
          </a:p>
        </p:txBody>
      </p:sp>
      <p:sp>
        <p:nvSpPr>
          <p:cNvPr id="53" name="Tema / Titolo / Docente  |  00. 00. 0000">
            <a:extLst>
              <a:ext uri="{FF2B5EF4-FFF2-40B4-BE49-F238E27FC236}">
                <a16:creationId xmlns:a16="http://schemas.microsoft.com/office/drawing/2014/main" id="{21E39AD4-D17D-DA18-8557-753A1598EDBB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494701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00. 00. 0000  |  Relatore</a:t>
            </a:r>
          </a:p>
        </p:txBody>
      </p:sp>
      <p:sp>
        <p:nvSpPr>
          <p:cNvPr id="31" name="Cerchio">
            <a:extLst>
              <a:ext uri="{FF2B5EF4-FFF2-40B4-BE49-F238E27FC236}">
                <a16:creationId xmlns:a16="http://schemas.microsoft.com/office/drawing/2014/main" id="{A9903704-CFC7-476C-9852-F48766C69614}"/>
              </a:ext>
            </a:extLst>
          </p:cNvPr>
          <p:cNvSpPr/>
          <p:nvPr userDrawn="1"/>
        </p:nvSpPr>
        <p:spPr>
          <a:xfrm rot="10800000">
            <a:off x="7559558" y="-2130267"/>
            <a:ext cx="4010434" cy="4010172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30368"/>
                </a:srgbClr>
              </a:gs>
              <a:gs pos="13661">
                <a:srgbClr val="8896A9">
                  <a:alpha val="15184"/>
                </a:srgb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 dirty="0"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32" name="Cerchio">
            <a:extLst>
              <a:ext uri="{FF2B5EF4-FFF2-40B4-BE49-F238E27FC236}">
                <a16:creationId xmlns:a16="http://schemas.microsoft.com/office/drawing/2014/main" id="{A6756836-4360-4832-91E9-DC1FED362D89}"/>
              </a:ext>
            </a:extLst>
          </p:cNvPr>
          <p:cNvSpPr/>
          <p:nvPr userDrawn="1"/>
        </p:nvSpPr>
        <p:spPr>
          <a:xfrm>
            <a:off x="7559558" y="1879907"/>
            <a:ext cx="4010432" cy="4010171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30000"/>
                </a:srgbClr>
              </a:gs>
              <a:gs pos="13661">
                <a:srgbClr val="8896A9">
                  <a:alpha val="14846"/>
                </a:srgb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>
                    <a:alpha val="20092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 dirty="0">
              <a:latin typeface="Manrope" pitchFamily="2" charset="0"/>
              <a:cs typeface="Arial" panose="020B0604020202020204" pitchFamily="34" charset="0"/>
            </a:endParaRPr>
          </a:p>
        </p:txBody>
      </p: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21D738D7-7E88-4675-A0EF-E3BAD613F5D5}"/>
              </a:ext>
            </a:extLst>
          </p:cNvPr>
          <p:cNvCxnSpPr>
            <a:cxnSpLocks/>
          </p:cNvCxnSpPr>
          <p:nvPr userDrawn="1"/>
        </p:nvCxnSpPr>
        <p:spPr>
          <a:xfrm>
            <a:off x="11569992" y="-973483"/>
            <a:ext cx="0" cy="685800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diritto 53">
            <a:extLst>
              <a:ext uri="{FF2B5EF4-FFF2-40B4-BE49-F238E27FC236}">
                <a16:creationId xmlns:a16="http://schemas.microsoft.com/office/drawing/2014/main" id="{F9039971-82D3-47A9-A22B-57F88091170C}"/>
              </a:ext>
            </a:extLst>
          </p:cNvPr>
          <p:cNvCxnSpPr>
            <a:cxnSpLocks/>
          </p:cNvCxnSpPr>
          <p:nvPr userDrawn="1"/>
        </p:nvCxnSpPr>
        <p:spPr>
          <a:xfrm>
            <a:off x="7559558" y="-973483"/>
            <a:ext cx="0" cy="685800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diritto 54">
            <a:extLst>
              <a:ext uri="{FF2B5EF4-FFF2-40B4-BE49-F238E27FC236}">
                <a16:creationId xmlns:a16="http://schemas.microsoft.com/office/drawing/2014/main" id="{646E7D75-6D87-4823-9E66-BDAA6D07313A}"/>
              </a:ext>
            </a:extLst>
          </p:cNvPr>
          <p:cNvCxnSpPr>
            <a:cxnSpLocks/>
          </p:cNvCxnSpPr>
          <p:nvPr userDrawn="1"/>
        </p:nvCxnSpPr>
        <p:spPr>
          <a:xfrm>
            <a:off x="0" y="1879907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Elemento grafico 26">
            <a:extLst>
              <a:ext uri="{FF2B5EF4-FFF2-40B4-BE49-F238E27FC236}">
                <a16:creationId xmlns:a16="http://schemas.microsoft.com/office/drawing/2014/main" id="{FF578DCB-6598-48EB-937C-141C852D44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412" y="6129055"/>
            <a:ext cx="1548000" cy="50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5006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D">
    <p:bg>
      <p:bgPr>
        <a:gradFill>
          <a:gsLst>
            <a:gs pos="100000">
              <a:srgbClr val="8795A8"/>
            </a:gs>
            <a:gs pos="27000">
              <a:srgbClr val="102C5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e 3">
            <a:extLst>
              <a:ext uri="{FF2B5EF4-FFF2-40B4-BE49-F238E27FC236}">
                <a16:creationId xmlns:a16="http://schemas.microsoft.com/office/drawing/2014/main" id="{0F18E289-8097-CB41-B2E0-E50D794D361D}"/>
              </a:ext>
            </a:extLst>
          </p:cNvPr>
          <p:cNvSpPr/>
          <p:nvPr userDrawn="1"/>
        </p:nvSpPr>
        <p:spPr>
          <a:xfrm>
            <a:off x="2609" y="1424519"/>
            <a:ext cx="10887979" cy="10887270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15412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 dirty="0">
              <a:latin typeface="Manrope" pitchFamily="2" charset="0"/>
            </a:endParaRPr>
          </a:p>
        </p:txBody>
      </p:sp>
      <p:sp>
        <p:nvSpPr>
          <p:cNvPr id="34" name="t">
            <a:extLst>
              <a:ext uri="{FF2B5EF4-FFF2-40B4-BE49-F238E27FC236}">
                <a16:creationId xmlns:a16="http://schemas.microsoft.com/office/drawing/2014/main" id="{5904BB58-3F14-9C88-2C51-FC53AD74ECDB}"/>
              </a:ext>
            </a:extLst>
          </p:cNvPr>
          <p:cNvSpPr/>
          <p:nvPr userDrawn="1"/>
        </p:nvSpPr>
        <p:spPr>
          <a:xfrm>
            <a:off x="-13900" y="5890078"/>
            <a:ext cx="12220596" cy="97807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algn="ctr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grpSp>
        <p:nvGrpSpPr>
          <p:cNvPr id="35" name="Raggruppa">
            <a:extLst>
              <a:ext uri="{FF2B5EF4-FFF2-40B4-BE49-F238E27FC236}">
                <a16:creationId xmlns:a16="http://schemas.microsoft.com/office/drawing/2014/main" id="{10E0AFDC-3F66-1CFB-E987-27D87A91FC3E}"/>
              </a:ext>
            </a:extLst>
          </p:cNvPr>
          <p:cNvGrpSpPr/>
          <p:nvPr userDrawn="1"/>
        </p:nvGrpSpPr>
        <p:grpSpPr>
          <a:xfrm>
            <a:off x="2454737" y="6112429"/>
            <a:ext cx="774301" cy="512711"/>
            <a:chOff x="55030" y="-1"/>
            <a:chExt cx="1548497" cy="1025419"/>
          </a:xfrm>
        </p:grpSpPr>
        <p:sp>
          <p:nvSpPr>
            <p:cNvPr id="36" name="Dicitura 01">
              <a:extLst>
                <a:ext uri="{FF2B5EF4-FFF2-40B4-BE49-F238E27FC236}">
                  <a16:creationId xmlns:a16="http://schemas.microsoft.com/office/drawing/2014/main" id="{10073F5C-DD0F-6D06-4F37-6385373A1AB7}"/>
                </a:ext>
              </a:extLst>
            </p:cNvPr>
            <p:cNvSpPr txBox="1"/>
            <p:nvPr/>
          </p:nvSpPr>
          <p:spPr>
            <a:xfrm>
              <a:off x="55030" y="102541"/>
              <a:ext cx="1391313" cy="4821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r">
                <a:defRPr sz="2200">
                  <a:solidFill>
                    <a:srgbClr val="102C53"/>
                  </a:solidFill>
                </a:defRPr>
              </a:lvl1pPr>
            </a:lstStyle>
            <a:p>
              <a:r>
                <a:rPr sz="900" b="1" dirty="0" err="1">
                  <a:latin typeface="Manrope" pitchFamily="2" charset="0"/>
                </a:rPr>
                <a:t>Dicitura</a:t>
              </a:r>
              <a:r>
                <a:rPr sz="900" b="1" dirty="0">
                  <a:latin typeface="Manrope" pitchFamily="2" charset="0"/>
                </a:rPr>
                <a:t> 01</a:t>
              </a:r>
            </a:p>
          </p:txBody>
        </p:sp>
        <p:sp>
          <p:nvSpPr>
            <p:cNvPr id="37" name="Linea">
              <a:extLst>
                <a:ext uri="{FF2B5EF4-FFF2-40B4-BE49-F238E27FC236}">
                  <a16:creationId xmlns:a16="http://schemas.microsoft.com/office/drawing/2014/main" id="{A2D93BEA-CDAB-B761-4314-7A4D96C6DDEB}"/>
                </a:ext>
              </a:extLst>
            </p:cNvPr>
            <p:cNvSpPr/>
            <p:nvPr/>
          </p:nvSpPr>
          <p:spPr>
            <a:xfrm flipV="1">
              <a:off x="1603526" y="-1"/>
              <a:ext cx="1" cy="1025419"/>
            </a:xfrm>
            <a:prstGeom prst="line">
              <a:avLst/>
            </a:prstGeom>
            <a:noFill/>
            <a:ln w="9525" cap="flat">
              <a:solidFill>
                <a:srgbClr val="102C53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 sz="338" dirty="0">
                <a:latin typeface="Manrope" pitchFamily="2" charset="0"/>
              </a:endParaRPr>
            </a:p>
          </p:txBody>
        </p:sp>
      </p:grpSp>
      <p:grpSp>
        <p:nvGrpSpPr>
          <p:cNvPr id="38" name="Raggruppa">
            <a:extLst>
              <a:ext uri="{FF2B5EF4-FFF2-40B4-BE49-F238E27FC236}">
                <a16:creationId xmlns:a16="http://schemas.microsoft.com/office/drawing/2014/main" id="{56DCEED6-6F0E-CCBB-2279-C15A32771039}"/>
              </a:ext>
            </a:extLst>
          </p:cNvPr>
          <p:cNvGrpSpPr/>
          <p:nvPr userDrawn="1"/>
        </p:nvGrpSpPr>
        <p:grpSpPr>
          <a:xfrm>
            <a:off x="6067169" y="6112429"/>
            <a:ext cx="790072" cy="512711"/>
            <a:chOff x="70058" y="-1"/>
            <a:chExt cx="1580036" cy="1025419"/>
          </a:xfrm>
        </p:grpSpPr>
        <p:sp>
          <p:nvSpPr>
            <p:cNvPr id="39" name="Dicitura 02">
              <a:extLst>
                <a:ext uri="{FF2B5EF4-FFF2-40B4-BE49-F238E27FC236}">
                  <a16:creationId xmlns:a16="http://schemas.microsoft.com/office/drawing/2014/main" id="{65F304E2-7E9C-B774-6D16-605FDABF18A3}"/>
                </a:ext>
              </a:extLst>
            </p:cNvPr>
            <p:cNvSpPr txBox="1"/>
            <p:nvPr/>
          </p:nvSpPr>
          <p:spPr>
            <a:xfrm>
              <a:off x="70058" y="102541"/>
              <a:ext cx="1426577" cy="4821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r">
                <a:defRPr sz="2200">
                  <a:solidFill>
                    <a:srgbClr val="102C53"/>
                  </a:solidFill>
                </a:defRPr>
              </a:lvl1pPr>
            </a:lstStyle>
            <a:p>
              <a:r>
                <a:rPr sz="900" b="1" dirty="0" err="1">
                  <a:latin typeface="Manrope" pitchFamily="2" charset="0"/>
                </a:rPr>
                <a:t>Dicitura</a:t>
              </a:r>
              <a:r>
                <a:rPr sz="900" b="1" dirty="0">
                  <a:latin typeface="Manrope" pitchFamily="2" charset="0"/>
                </a:rPr>
                <a:t> 02</a:t>
              </a:r>
            </a:p>
          </p:txBody>
        </p:sp>
        <p:sp>
          <p:nvSpPr>
            <p:cNvPr id="40" name="Linea">
              <a:extLst>
                <a:ext uri="{FF2B5EF4-FFF2-40B4-BE49-F238E27FC236}">
                  <a16:creationId xmlns:a16="http://schemas.microsoft.com/office/drawing/2014/main" id="{0D3513D8-03DF-07FB-C95C-75AB43EA944A}"/>
                </a:ext>
              </a:extLst>
            </p:cNvPr>
            <p:cNvSpPr/>
            <p:nvPr/>
          </p:nvSpPr>
          <p:spPr>
            <a:xfrm flipV="1">
              <a:off x="1650093" y="-1"/>
              <a:ext cx="1" cy="1025419"/>
            </a:xfrm>
            <a:prstGeom prst="line">
              <a:avLst/>
            </a:prstGeom>
            <a:noFill/>
            <a:ln w="9525" cap="flat">
              <a:solidFill>
                <a:srgbClr val="102C53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 sz="338" dirty="0">
                <a:latin typeface="Manrope" pitchFamily="2" charset="0"/>
              </a:endParaRPr>
            </a:p>
          </p:txBody>
        </p:sp>
      </p:grpSp>
      <p:grpSp>
        <p:nvGrpSpPr>
          <p:cNvPr id="41" name="Raggruppa">
            <a:extLst>
              <a:ext uri="{FF2B5EF4-FFF2-40B4-BE49-F238E27FC236}">
                <a16:creationId xmlns:a16="http://schemas.microsoft.com/office/drawing/2014/main" id="{EE4E4B32-B5F8-3F30-EE38-C91ECC226870}"/>
              </a:ext>
            </a:extLst>
          </p:cNvPr>
          <p:cNvGrpSpPr/>
          <p:nvPr userDrawn="1"/>
        </p:nvGrpSpPr>
        <p:grpSpPr>
          <a:xfrm>
            <a:off x="7104925" y="6152538"/>
            <a:ext cx="979517" cy="453158"/>
            <a:chOff x="60711" y="0"/>
            <a:chExt cx="1958904" cy="906313"/>
          </a:xfrm>
        </p:grpSpPr>
        <p:sp>
          <p:nvSpPr>
            <p:cNvPr id="42" name="Logo">
              <a:extLst>
                <a:ext uri="{FF2B5EF4-FFF2-40B4-BE49-F238E27FC236}">
                  <a16:creationId xmlns:a16="http://schemas.microsoft.com/office/drawing/2014/main" id="{01F912F9-4CA7-0309-4362-4AE504D449B0}"/>
                </a:ext>
              </a:extLst>
            </p:cNvPr>
            <p:cNvSpPr txBox="1"/>
            <p:nvPr/>
          </p:nvSpPr>
          <p:spPr>
            <a:xfrm>
              <a:off x="996967" y="135122"/>
              <a:ext cx="1022648" cy="6360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>
                  <a:solidFill>
                    <a:srgbClr val="D5D5D5"/>
                  </a:solidFill>
                </a:defRPr>
              </a:lvl1pPr>
            </a:lstStyle>
            <a:p>
              <a:r>
                <a:rPr sz="1400" dirty="0">
                  <a:latin typeface="Manrope" pitchFamily="2" charset="0"/>
                </a:rPr>
                <a:t>Logo</a:t>
              </a:r>
            </a:p>
          </p:txBody>
        </p:sp>
        <p:sp>
          <p:nvSpPr>
            <p:cNvPr id="43" name="Poligono">
              <a:extLst>
                <a:ext uri="{FF2B5EF4-FFF2-40B4-BE49-F238E27FC236}">
                  <a16:creationId xmlns:a16="http://schemas.microsoft.com/office/drawing/2014/main" id="{1A2CDB77-2460-9096-7611-C3E31F3AB038}"/>
                </a:ext>
              </a:extLst>
            </p:cNvPr>
            <p:cNvSpPr/>
            <p:nvPr/>
          </p:nvSpPr>
          <p:spPr>
            <a:xfrm>
              <a:off x="60711" y="0"/>
              <a:ext cx="784891" cy="906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5400"/>
                  </a:lnTo>
                  <a:lnTo>
                    <a:pt x="21600" y="16200"/>
                  </a:lnTo>
                  <a:lnTo>
                    <a:pt x="10800" y="21600"/>
                  </a:lnTo>
                  <a:lnTo>
                    <a:pt x="0" y="162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D5D5D5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412756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4" name="Raggruppa">
            <a:extLst>
              <a:ext uri="{FF2B5EF4-FFF2-40B4-BE49-F238E27FC236}">
                <a16:creationId xmlns:a16="http://schemas.microsoft.com/office/drawing/2014/main" id="{E9DC9E88-ED5E-A322-CEF0-BA8C7730DD17}"/>
              </a:ext>
            </a:extLst>
          </p:cNvPr>
          <p:cNvGrpSpPr/>
          <p:nvPr userDrawn="1"/>
        </p:nvGrpSpPr>
        <p:grpSpPr>
          <a:xfrm>
            <a:off x="3478116" y="6125021"/>
            <a:ext cx="2345580" cy="508191"/>
            <a:chOff x="-1" y="0"/>
            <a:chExt cx="4690853" cy="1016381"/>
          </a:xfrm>
        </p:grpSpPr>
        <p:grpSp>
          <p:nvGrpSpPr>
            <p:cNvPr id="45" name="Raggruppa">
              <a:extLst>
                <a:ext uri="{FF2B5EF4-FFF2-40B4-BE49-F238E27FC236}">
                  <a16:creationId xmlns:a16="http://schemas.microsoft.com/office/drawing/2014/main" id="{0AAB06EA-BD72-204E-2331-5ADA684865D6}"/>
                </a:ext>
              </a:extLst>
            </p:cNvPr>
            <p:cNvGrpSpPr/>
            <p:nvPr/>
          </p:nvGrpSpPr>
          <p:grpSpPr>
            <a:xfrm>
              <a:off x="-1" y="0"/>
              <a:ext cx="2032314" cy="1016381"/>
              <a:chOff x="0" y="0"/>
              <a:chExt cx="2032313" cy="1016380"/>
            </a:xfrm>
          </p:grpSpPr>
          <p:sp>
            <p:nvSpPr>
              <p:cNvPr id="49" name="Logo">
                <a:extLst>
                  <a:ext uri="{FF2B5EF4-FFF2-40B4-BE49-F238E27FC236}">
                    <a16:creationId xmlns:a16="http://schemas.microsoft.com/office/drawing/2014/main" id="{E2A46CB7-6126-FAF4-587A-DD55008E4667}"/>
                  </a:ext>
                </a:extLst>
              </p:cNvPr>
              <p:cNvSpPr txBox="1"/>
              <p:nvPr/>
            </p:nvSpPr>
            <p:spPr>
              <a:xfrm>
                <a:off x="1009665" y="190150"/>
                <a:ext cx="1022648" cy="63607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800">
                    <a:solidFill>
                      <a:srgbClr val="D5D5D5"/>
                    </a:solidFill>
                  </a:defRPr>
                </a:lvl1pPr>
              </a:lstStyle>
              <a:p>
                <a:r>
                  <a:rPr sz="1400" dirty="0">
                    <a:latin typeface="Manrope" pitchFamily="2" charset="0"/>
                  </a:rPr>
                  <a:t>Logo</a:t>
                </a:r>
              </a:p>
            </p:txBody>
          </p:sp>
          <p:sp>
            <p:nvSpPr>
              <p:cNvPr id="50" name="Triangolo">
                <a:extLst>
                  <a:ext uri="{FF2B5EF4-FFF2-40B4-BE49-F238E27FC236}">
                    <a16:creationId xmlns:a16="http://schemas.microsoft.com/office/drawing/2014/main" id="{49414913-DF6E-3124-0037-4413F4E9DBA5}"/>
                  </a:ext>
                </a:extLst>
              </p:cNvPr>
              <p:cNvSpPr/>
              <p:nvPr/>
            </p:nvSpPr>
            <p:spPr>
              <a:xfrm>
                <a:off x="0" y="0"/>
                <a:ext cx="1016380" cy="10163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D5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412756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6" name="Raggruppa">
              <a:extLst>
                <a:ext uri="{FF2B5EF4-FFF2-40B4-BE49-F238E27FC236}">
                  <a16:creationId xmlns:a16="http://schemas.microsoft.com/office/drawing/2014/main" id="{2E1D7F5F-ABE7-5DE5-9E9B-5271458A6691}"/>
                </a:ext>
              </a:extLst>
            </p:cNvPr>
            <p:cNvGrpSpPr/>
            <p:nvPr/>
          </p:nvGrpSpPr>
          <p:grpSpPr>
            <a:xfrm>
              <a:off x="2519023" y="0"/>
              <a:ext cx="2171829" cy="1016381"/>
              <a:chOff x="0" y="0"/>
              <a:chExt cx="2171826" cy="1016380"/>
            </a:xfrm>
          </p:grpSpPr>
          <p:sp>
            <p:nvSpPr>
              <p:cNvPr id="47" name="Logo">
                <a:extLst>
                  <a:ext uri="{FF2B5EF4-FFF2-40B4-BE49-F238E27FC236}">
                    <a16:creationId xmlns:a16="http://schemas.microsoft.com/office/drawing/2014/main" id="{FB792114-1E03-A8B8-F9F6-0BD1E522B30C}"/>
                  </a:ext>
                </a:extLst>
              </p:cNvPr>
              <p:cNvSpPr txBox="1"/>
              <p:nvPr/>
            </p:nvSpPr>
            <p:spPr>
              <a:xfrm>
                <a:off x="1149178" y="190150"/>
                <a:ext cx="1022648" cy="63607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800">
                    <a:solidFill>
                      <a:srgbClr val="D5D5D5"/>
                    </a:solidFill>
                  </a:defRPr>
                </a:lvl1pPr>
              </a:lstStyle>
              <a:p>
                <a:r>
                  <a:rPr sz="1400" dirty="0">
                    <a:latin typeface="Manrope" pitchFamily="2" charset="0"/>
                  </a:rPr>
                  <a:t>Logo</a:t>
                </a:r>
              </a:p>
            </p:txBody>
          </p:sp>
          <p:sp>
            <p:nvSpPr>
              <p:cNvPr id="48" name="Rettangolo arrotondato">
                <a:extLst>
                  <a:ext uri="{FF2B5EF4-FFF2-40B4-BE49-F238E27FC236}">
                    <a16:creationId xmlns:a16="http://schemas.microsoft.com/office/drawing/2014/main" id="{51D7D47B-E4A9-117B-C867-618C7B14273D}"/>
                  </a:ext>
                </a:extLst>
              </p:cNvPr>
              <p:cNvSpPr/>
              <p:nvPr/>
            </p:nvSpPr>
            <p:spPr>
              <a:xfrm>
                <a:off x="0" y="0"/>
                <a:ext cx="1016380" cy="1016380"/>
              </a:xfrm>
              <a:prstGeom prst="roundRect">
                <a:avLst>
                  <a:gd name="adj" fmla="val 9826"/>
                </a:avLst>
              </a:prstGeom>
              <a:solidFill>
                <a:srgbClr val="D5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412756">
                  <a:defRPr sz="3200">
                    <a:solidFill>
                      <a:srgbClr val="D5D5D5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2" name="Titolo 5">
            <a:extLst>
              <a:ext uri="{FF2B5EF4-FFF2-40B4-BE49-F238E27FC236}">
                <a16:creationId xmlns:a16="http://schemas.microsoft.com/office/drawing/2014/main" id="{FAD942FF-4AE3-BA4F-0D20-F8F6CDA75D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287" y="1873912"/>
            <a:ext cx="10986218" cy="2324100"/>
          </a:xfrm>
          <a:prstGeom prst="rect">
            <a:avLst/>
          </a:prstGeom>
        </p:spPr>
        <p:txBody>
          <a:bodyPr lIns="0" tIns="360000" rIns="0" bIns="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Inserire titolo</a:t>
            </a:r>
          </a:p>
        </p:txBody>
      </p:sp>
      <p:sp>
        <p:nvSpPr>
          <p:cNvPr id="53" name="Tema / Titolo / Docente  |  00. 00. 0000">
            <a:extLst>
              <a:ext uri="{FF2B5EF4-FFF2-40B4-BE49-F238E27FC236}">
                <a16:creationId xmlns:a16="http://schemas.microsoft.com/office/drawing/2014/main" id="{21E39AD4-D17D-DA18-8557-753A1598EDBB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494701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00. 00. 0000  |  Relatore</a:t>
            </a:r>
          </a:p>
        </p:txBody>
      </p:sp>
      <p:sp>
        <p:nvSpPr>
          <p:cNvPr id="62" name="Linea">
            <a:extLst>
              <a:ext uri="{FF2B5EF4-FFF2-40B4-BE49-F238E27FC236}">
                <a16:creationId xmlns:a16="http://schemas.microsoft.com/office/drawing/2014/main" id="{54CC51DA-C723-F8DB-C158-F298D04F09C3}"/>
              </a:ext>
            </a:extLst>
          </p:cNvPr>
          <p:cNvSpPr/>
          <p:nvPr userDrawn="1"/>
        </p:nvSpPr>
        <p:spPr>
          <a:xfrm>
            <a:off x="0" y="1416971"/>
            <a:ext cx="12192795" cy="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 dirty="0">
              <a:latin typeface="Manrope" pitchFamily="2" charset="0"/>
            </a:endParaRPr>
          </a:p>
        </p:txBody>
      </p:sp>
      <p:sp>
        <p:nvSpPr>
          <p:cNvPr id="3" name="Linea">
            <a:extLst>
              <a:ext uri="{FF2B5EF4-FFF2-40B4-BE49-F238E27FC236}">
                <a16:creationId xmlns:a16="http://schemas.microsoft.com/office/drawing/2014/main" id="{212AA810-2E06-6DB2-CF2D-E8B825DA18E6}"/>
              </a:ext>
            </a:extLst>
          </p:cNvPr>
          <p:cNvSpPr/>
          <p:nvPr userDrawn="1"/>
        </p:nvSpPr>
        <p:spPr>
          <a:xfrm rot="10800000" flipH="1">
            <a:off x="10895557" y="-1590"/>
            <a:ext cx="1" cy="6855889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399" tIns="25399" rIns="25399" bIns="25399" anchor="ctr"/>
          <a:lstStyle/>
          <a:p>
            <a:endParaRPr sz="1200" dirty="0">
              <a:latin typeface="Manrope" pitchFamily="2" charset="0"/>
            </a:endParaRPr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1526C403-D8EF-49F4-AE98-8D0CC36DA1EF}"/>
              </a:ext>
            </a:extLst>
          </p:cNvPr>
          <p:cNvSpPr/>
          <p:nvPr userDrawn="1"/>
        </p:nvSpPr>
        <p:spPr>
          <a:xfrm>
            <a:off x="2609" y="-9470299"/>
            <a:ext cx="10887979" cy="10887270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15412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 dirty="0">
              <a:latin typeface="Manrope" pitchFamily="2" charset="0"/>
            </a:endParaRPr>
          </a:p>
        </p:txBody>
      </p:sp>
      <p:pic>
        <p:nvPicPr>
          <p:cNvPr id="27" name="Elemento grafico 26">
            <a:extLst>
              <a:ext uri="{FF2B5EF4-FFF2-40B4-BE49-F238E27FC236}">
                <a16:creationId xmlns:a16="http://schemas.microsoft.com/office/drawing/2014/main" id="{73E11A02-42E0-4BB1-B98B-BE09A4A6F5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412" y="6129055"/>
            <a:ext cx="1548000" cy="50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2675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ea">
            <a:extLst>
              <a:ext uri="{FF2B5EF4-FFF2-40B4-BE49-F238E27FC236}">
                <a16:creationId xmlns:a16="http://schemas.microsoft.com/office/drawing/2014/main" id="{06A5565B-3792-761F-D5E8-89E83049F337}"/>
              </a:ext>
            </a:extLst>
          </p:cNvPr>
          <p:cNvSpPr/>
          <p:nvPr userDrawn="1"/>
        </p:nvSpPr>
        <p:spPr>
          <a:xfrm>
            <a:off x="0" y="3429000"/>
            <a:ext cx="12192795" cy="0"/>
          </a:xfrm>
          <a:prstGeom prst="line">
            <a:avLst/>
          </a:prstGeom>
          <a:ln w="6350">
            <a:solidFill>
              <a:srgbClr val="102C53">
                <a:alpha val="50000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 dirty="0">
              <a:latin typeface="Manrope" pitchFamily="2" charset="0"/>
            </a:endParaRPr>
          </a:p>
        </p:txBody>
      </p:sp>
      <p:sp>
        <p:nvSpPr>
          <p:cNvPr id="12" name="Linea">
            <a:extLst>
              <a:ext uri="{FF2B5EF4-FFF2-40B4-BE49-F238E27FC236}">
                <a16:creationId xmlns:a16="http://schemas.microsoft.com/office/drawing/2014/main" id="{39CEE595-3918-20DF-0A93-E1BE36E4BCF4}"/>
              </a:ext>
            </a:extLst>
          </p:cNvPr>
          <p:cNvSpPr/>
          <p:nvPr userDrawn="1"/>
        </p:nvSpPr>
        <p:spPr>
          <a:xfrm flipV="1">
            <a:off x="11566815" y="15448"/>
            <a:ext cx="0" cy="6827108"/>
          </a:xfrm>
          <a:prstGeom prst="line">
            <a:avLst/>
          </a:prstGeom>
          <a:ln w="6350">
            <a:solidFill>
              <a:srgbClr val="102C53">
                <a:alpha val="50000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 dirty="0">
              <a:latin typeface="Manrope" pitchFamily="2" charset="0"/>
            </a:endParaRPr>
          </a:p>
        </p:txBody>
      </p:sp>
      <p:sp>
        <p:nvSpPr>
          <p:cNvPr id="13" name="Linea">
            <a:extLst>
              <a:ext uri="{FF2B5EF4-FFF2-40B4-BE49-F238E27FC236}">
                <a16:creationId xmlns:a16="http://schemas.microsoft.com/office/drawing/2014/main" id="{1FF15F9B-EC12-8E00-194B-C92BF9532474}"/>
              </a:ext>
            </a:extLst>
          </p:cNvPr>
          <p:cNvSpPr/>
          <p:nvPr userDrawn="1"/>
        </p:nvSpPr>
        <p:spPr>
          <a:xfrm flipV="1">
            <a:off x="7562733" y="15448"/>
            <a:ext cx="0" cy="6827108"/>
          </a:xfrm>
          <a:prstGeom prst="line">
            <a:avLst/>
          </a:prstGeom>
          <a:ln w="6350">
            <a:solidFill>
              <a:srgbClr val="102C53">
                <a:alpha val="50000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 dirty="0">
              <a:latin typeface="Manrope" pitchFamily="2" charset="0"/>
            </a:endParaRPr>
          </a:p>
        </p:txBody>
      </p:sp>
      <p:sp>
        <p:nvSpPr>
          <p:cNvPr id="14" name="Tema / Titolo / Docente  |  00. 00. 0000">
            <a:extLst>
              <a:ext uri="{FF2B5EF4-FFF2-40B4-BE49-F238E27FC236}">
                <a16:creationId xmlns:a16="http://schemas.microsoft.com/office/drawing/2014/main" id="{1DCB0E58-CB34-9BB0-27A9-F358FEB81E9A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2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00. 00. 0000  |  Relatore</a:t>
            </a:r>
          </a:p>
        </p:txBody>
      </p:sp>
      <p:sp>
        <p:nvSpPr>
          <p:cNvPr id="17" name="Titolo 5">
            <a:extLst>
              <a:ext uri="{FF2B5EF4-FFF2-40B4-BE49-F238E27FC236}">
                <a16:creationId xmlns:a16="http://schemas.microsoft.com/office/drawing/2014/main" id="{4DAF60AC-FCFA-4F79-8AA6-85AC61BFA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287" y="3429000"/>
            <a:ext cx="6953096" cy="2324100"/>
          </a:xfrm>
          <a:prstGeom prst="rect">
            <a:avLst/>
          </a:prstGeom>
        </p:spPr>
        <p:txBody>
          <a:bodyPr lIns="0" tIns="360000" rIns="0" bIns="0"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Inserire titolo</a:t>
            </a:r>
            <a:br>
              <a:rPr lang="it-IT" dirty="0"/>
            </a:br>
            <a:r>
              <a:rPr lang="it-IT" dirty="0"/>
              <a:t>Presentazione</a:t>
            </a:r>
          </a:p>
        </p:txBody>
      </p:sp>
      <p:sp>
        <p:nvSpPr>
          <p:cNvPr id="21" name="Cerchio">
            <a:extLst>
              <a:ext uri="{FF2B5EF4-FFF2-40B4-BE49-F238E27FC236}">
                <a16:creationId xmlns:a16="http://schemas.microsoft.com/office/drawing/2014/main" id="{6E7576C8-25DA-044B-E1DD-8104EE1A54CF}"/>
              </a:ext>
            </a:extLst>
          </p:cNvPr>
          <p:cNvSpPr/>
          <p:nvPr userDrawn="1"/>
        </p:nvSpPr>
        <p:spPr>
          <a:xfrm rot="5400000">
            <a:off x="7572787" y="-581302"/>
            <a:ext cx="4010172" cy="4010432"/>
          </a:xfrm>
          <a:prstGeom prst="ellipse">
            <a:avLst/>
          </a:prstGeom>
          <a:gradFill flip="none" rotWithShape="1">
            <a:gsLst>
              <a:gs pos="85000">
                <a:srgbClr val="FFFFFF">
                  <a:alpha val="0"/>
                </a:srgbClr>
              </a:gs>
              <a:gs pos="0">
                <a:srgbClr val="8795A8"/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dirty="0"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22" name="Cerchio">
            <a:extLst>
              <a:ext uri="{FF2B5EF4-FFF2-40B4-BE49-F238E27FC236}">
                <a16:creationId xmlns:a16="http://schemas.microsoft.com/office/drawing/2014/main" id="{30211EF7-C505-8055-D080-3F3D88BB6BE8}"/>
              </a:ext>
            </a:extLst>
          </p:cNvPr>
          <p:cNvSpPr/>
          <p:nvPr userDrawn="1"/>
        </p:nvSpPr>
        <p:spPr>
          <a:xfrm rot="16200000">
            <a:off x="7572787" y="3428871"/>
            <a:ext cx="4010172" cy="4010432"/>
          </a:xfrm>
          <a:prstGeom prst="ellipse">
            <a:avLst/>
          </a:prstGeom>
          <a:gradFill flip="none" rotWithShape="1">
            <a:gsLst>
              <a:gs pos="85000">
                <a:srgbClr val="FFFFFF">
                  <a:alpha val="0"/>
                </a:srgbClr>
              </a:gs>
              <a:gs pos="0">
                <a:srgbClr val="8795A8"/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dirty="0">
              <a:latin typeface="Manrope" pitchFamily="2" charset="0"/>
              <a:cs typeface="Arial" panose="020B0604020202020204" pitchFamily="34" charset="0"/>
            </a:endParaRPr>
          </a:p>
        </p:txBody>
      </p:sp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51B1F0B2-95BC-48D0-A4B9-DD912BE07B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7559" y="557094"/>
            <a:ext cx="2088000" cy="67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788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studente-6.jpg">
            <a:extLst>
              <a:ext uri="{FF2B5EF4-FFF2-40B4-BE49-F238E27FC236}">
                <a16:creationId xmlns:a16="http://schemas.microsoft.com/office/drawing/2014/main" id="{DA0DDB76-F351-4164-94AE-C6D2D1E45F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8" b="7868"/>
          <a:stretch/>
        </p:blipFill>
        <p:spPr>
          <a:xfrm>
            <a:off x="1" y="-15446"/>
            <a:ext cx="12202569" cy="6873447"/>
          </a:xfrm>
          <a:prstGeom prst="rect">
            <a:avLst/>
          </a:prstGeom>
        </p:spPr>
      </p:pic>
      <p:sp>
        <p:nvSpPr>
          <p:cNvPr id="12" name="Rettangolo">
            <a:extLst>
              <a:ext uri="{FF2B5EF4-FFF2-40B4-BE49-F238E27FC236}">
                <a16:creationId xmlns:a16="http://schemas.microsoft.com/office/drawing/2014/main" id="{A66CE9DD-F14C-4A96-8D86-1FA07F6449E0}"/>
              </a:ext>
            </a:extLst>
          </p:cNvPr>
          <p:cNvSpPr/>
          <p:nvPr userDrawn="1"/>
        </p:nvSpPr>
        <p:spPr>
          <a:xfrm>
            <a:off x="0" y="0"/>
            <a:ext cx="1221234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72000">
                <a:srgbClr val="FFFFFF"/>
              </a:gs>
            </a:gsLst>
            <a:lin ang="5400000" scaled="0"/>
            <a:tileRect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Linea">
            <a:extLst>
              <a:ext uri="{FF2B5EF4-FFF2-40B4-BE49-F238E27FC236}">
                <a16:creationId xmlns:a16="http://schemas.microsoft.com/office/drawing/2014/main" id="{B39406AE-79B6-49A1-923B-123760D8505F}"/>
              </a:ext>
            </a:extLst>
          </p:cNvPr>
          <p:cNvSpPr/>
          <p:nvPr userDrawn="1"/>
        </p:nvSpPr>
        <p:spPr>
          <a:xfrm>
            <a:off x="0" y="1980994"/>
            <a:ext cx="12192795" cy="0"/>
          </a:xfrm>
          <a:prstGeom prst="line">
            <a:avLst/>
          </a:prstGeom>
          <a:ln w="6350">
            <a:solidFill>
              <a:schemeClr val="accent1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 dirty="0">
              <a:latin typeface="Manrope" pitchFamily="2" charset="0"/>
            </a:endParaRPr>
          </a:p>
        </p:txBody>
      </p:sp>
      <p:sp>
        <p:nvSpPr>
          <p:cNvPr id="17" name="Linea">
            <a:extLst>
              <a:ext uri="{FF2B5EF4-FFF2-40B4-BE49-F238E27FC236}">
                <a16:creationId xmlns:a16="http://schemas.microsoft.com/office/drawing/2014/main" id="{DCC9F3C9-7921-43F1-BB63-5744C63E565E}"/>
              </a:ext>
            </a:extLst>
          </p:cNvPr>
          <p:cNvSpPr/>
          <p:nvPr userDrawn="1"/>
        </p:nvSpPr>
        <p:spPr>
          <a:xfrm flipV="1">
            <a:off x="10715224" y="15448"/>
            <a:ext cx="0" cy="6827108"/>
          </a:xfrm>
          <a:prstGeom prst="line">
            <a:avLst/>
          </a:prstGeom>
          <a:ln w="6350">
            <a:solidFill>
              <a:schemeClr val="tx2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 dirty="0">
              <a:latin typeface="Manrope" pitchFamily="2" charset="0"/>
            </a:endParaRPr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1CCADD42-EE9E-4858-B6FB-01BA6E38FAD3}"/>
              </a:ext>
            </a:extLst>
          </p:cNvPr>
          <p:cNvSpPr/>
          <p:nvPr userDrawn="1"/>
        </p:nvSpPr>
        <p:spPr>
          <a:xfrm rot="18900000">
            <a:off x="-172754" y="1980994"/>
            <a:ext cx="10887979" cy="10887270"/>
          </a:xfrm>
          <a:prstGeom prst="ellipse">
            <a:avLst/>
          </a:prstGeom>
          <a:gradFill flip="none" rotWithShape="1">
            <a:gsLst>
              <a:gs pos="85000">
                <a:srgbClr val="FFFFFF">
                  <a:alpha val="0"/>
                </a:srgbClr>
              </a:gs>
              <a:gs pos="0">
                <a:schemeClr val="accent3"/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lvl="0" algn="ctr" defTabSz="412756"/>
            <a:endParaRPr lang="it-IT" sz="1600" dirty="0">
              <a:solidFill>
                <a:srgbClr val="FFFFFF"/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5" name="Tema / Titolo / Docente  |  00. 00. 0000">
            <a:extLst>
              <a:ext uri="{FF2B5EF4-FFF2-40B4-BE49-F238E27FC236}">
                <a16:creationId xmlns:a16="http://schemas.microsoft.com/office/drawing/2014/main" id="{43EB2AAE-2F64-43C5-B8E8-F199350D7390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>
              <a:lnSpc>
                <a:spcPct val="100000"/>
              </a:lnSpc>
              <a:defRPr sz="1200">
                <a:solidFill>
                  <a:schemeClr val="tx2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00. 00. 0000  |  Relatore</a:t>
            </a:r>
          </a:p>
        </p:txBody>
      </p:sp>
      <p:sp>
        <p:nvSpPr>
          <p:cNvPr id="16" name="Titolo 5">
            <a:extLst>
              <a:ext uri="{FF2B5EF4-FFF2-40B4-BE49-F238E27FC236}">
                <a16:creationId xmlns:a16="http://schemas.microsoft.com/office/drawing/2014/main" id="{E8F7923B-B8EC-4C6A-A6CA-70D16747DB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376" y="3448466"/>
            <a:ext cx="6953096" cy="2108271"/>
          </a:xfrm>
          <a:prstGeom prst="rect">
            <a:avLst/>
          </a:prstGeom>
        </p:spPr>
        <p:txBody>
          <a:bodyPr lIns="0" tIns="360000" rIns="0" bIns="0"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Inserire titolo</a:t>
            </a:r>
            <a:br>
              <a:rPr lang="it-IT" dirty="0"/>
            </a:br>
            <a:r>
              <a:rPr lang="it-IT" dirty="0"/>
              <a:t>Presentazione</a:t>
            </a:r>
          </a:p>
        </p:txBody>
      </p:sp>
      <p:sp>
        <p:nvSpPr>
          <p:cNvPr id="18" name="Segnaposto testo 11">
            <a:extLst>
              <a:ext uri="{FF2B5EF4-FFF2-40B4-BE49-F238E27FC236}">
                <a16:creationId xmlns:a16="http://schemas.microsoft.com/office/drawing/2014/main" id="{7B2691BB-C18A-4BDF-B8C5-3FE9669646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0710" y="2898987"/>
            <a:ext cx="4833938" cy="392112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Sottotitolo</a:t>
            </a:r>
          </a:p>
        </p:txBody>
      </p:sp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FD1FC0B6-D466-4AA7-8BF6-E6C5BD1539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306" y="554831"/>
            <a:ext cx="2088000" cy="67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5574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udente-6.jpg">
            <a:extLst>
              <a:ext uri="{FF2B5EF4-FFF2-40B4-BE49-F238E27FC236}">
                <a16:creationId xmlns:a16="http://schemas.microsoft.com/office/drawing/2014/main" id="{9A8088A1-BE02-A45C-F2B7-D9182C7D25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" t="901" r="14721" b="26146"/>
          <a:stretch/>
        </p:blipFill>
        <p:spPr>
          <a:xfrm>
            <a:off x="1" y="-15446"/>
            <a:ext cx="12202569" cy="6873447"/>
          </a:xfrm>
          <a:prstGeom prst="rect">
            <a:avLst/>
          </a:prstGeom>
        </p:spPr>
      </p:pic>
      <p:sp>
        <p:nvSpPr>
          <p:cNvPr id="13" name="Rettangolo">
            <a:extLst>
              <a:ext uri="{FF2B5EF4-FFF2-40B4-BE49-F238E27FC236}">
                <a16:creationId xmlns:a16="http://schemas.microsoft.com/office/drawing/2014/main" id="{C0958222-67A2-407E-B29D-7EAE366C03C4}"/>
              </a:ext>
            </a:extLst>
          </p:cNvPr>
          <p:cNvSpPr/>
          <p:nvPr userDrawn="1"/>
        </p:nvSpPr>
        <p:spPr>
          <a:xfrm>
            <a:off x="-9775" y="0"/>
            <a:ext cx="1221234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46000">
                <a:schemeClr val="accent1">
                  <a:alpha val="40000"/>
                </a:schemeClr>
              </a:gs>
              <a:gs pos="72000">
                <a:schemeClr val="accent1"/>
              </a:gs>
            </a:gsLst>
            <a:lin ang="5400000" scaled="0"/>
            <a:tileRect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Linea">
            <a:extLst>
              <a:ext uri="{FF2B5EF4-FFF2-40B4-BE49-F238E27FC236}">
                <a16:creationId xmlns:a16="http://schemas.microsoft.com/office/drawing/2014/main" id="{B39406AE-79B6-49A1-923B-123760D8505F}"/>
              </a:ext>
            </a:extLst>
          </p:cNvPr>
          <p:cNvSpPr/>
          <p:nvPr userDrawn="1"/>
        </p:nvSpPr>
        <p:spPr>
          <a:xfrm>
            <a:off x="0" y="1980994"/>
            <a:ext cx="12192795" cy="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 dirty="0">
              <a:latin typeface="Manrope" pitchFamily="2" charset="0"/>
            </a:endParaRPr>
          </a:p>
        </p:txBody>
      </p:sp>
      <p:sp>
        <p:nvSpPr>
          <p:cNvPr id="17" name="Linea">
            <a:extLst>
              <a:ext uri="{FF2B5EF4-FFF2-40B4-BE49-F238E27FC236}">
                <a16:creationId xmlns:a16="http://schemas.microsoft.com/office/drawing/2014/main" id="{DCC9F3C9-7921-43F1-BB63-5744C63E565E}"/>
              </a:ext>
            </a:extLst>
          </p:cNvPr>
          <p:cNvSpPr/>
          <p:nvPr userDrawn="1"/>
        </p:nvSpPr>
        <p:spPr>
          <a:xfrm flipV="1">
            <a:off x="10715224" y="15448"/>
            <a:ext cx="0" cy="6827108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 dirty="0">
              <a:latin typeface="Manrope" pitchFamily="2" charset="0"/>
            </a:endParaRPr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1CCADD42-EE9E-4858-B6FB-01BA6E38FAD3}"/>
              </a:ext>
            </a:extLst>
          </p:cNvPr>
          <p:cNvSpPr/>
          <p:nvPr userDrawn="1"/>
        </p:nvSpPr>
        <p:spPr>
          <a:xfrm rot="20927104">
            <a:off x="-172754" y="1980994"/>
            <a:ext cx="10887979" cy="10887270"/>
          </a:xfrm>
          <a:prstGeom prst="ellipse">
            <a:avLst/>
          </a:prstGeom>
          <a:gradFill flip="none" rotWithShape="1">
            <a:gsLst>
              <a:gs pos="9000">
                <a:schemeClr val="bg1">
                  <a:alpha val="40000"/>
                </a:scheme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900" dirty="0">
              <a:latin typeface="Manrope" pitchFamily="2" charset="0"/>
            </a:endParaRPr>
          </a:p>
        </p:txBody>
      </p:sp>
      <p:sp>
        <p:nvSpPr>
          <p:cNvPr id="15" name="Tema / Titolo / Docente  |  00. 00. 0000">
            <a:extLst>
              <a:ext uri="{FF2B5EF4-FFF2-40B4-BE49-F238E27FC236}">
                <a16:creationId xmlns:a16="http://schemas.microsoft.com/office/drawing/2014/main" id="{43EB2AAE-2F64-43C5-B8E8-F199350D7390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>
              <a:lnSpc>
                <a:spcPct val="100000"/>
              </a:lnSpc>
              <a:defRPr sz="120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00. 00. 0000  |  Relatore</a:t>
            </a:r>
          </a:p>
        </p:txBody>
      </p:sp>
      <p:sp>
        <p:nvSpPr>
          <p:cNvPr id="16" name="Titolo 5">
            <a:extLst>
              <a:ext uri="{FF2B5EF4-FFF2-40B4-BE49-F238E27FC236}">
                <a16:creationId xmlns:a16="http://schemas.microsoft.com/office/drawing/2014/main" id="{E8F7923B-B8EC-4C6A-A6CA-70D16747DB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375" y="3448466"/>
            <a:ext cx="9719547" cy="2108271"/>
          </a:xfrm>
          <a:prstGeom prst="rect">
            <a:avLst/>
          </a:prstGeom>
        </p:spPr>
        <p:txBody>
          <a:bodyPr lIns="0" tIns="360000" rIns="0" bIns="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Inserire titolo</a:t>
            </a:r>
            <a:br>
              <a:rPr lang="it-IT" dirty="0"/>
            </a:br>
            <a:r>
              <a:rPr lang="it-IT" dirty="0"/>
              <a:t>Presentazione</a:t>
            </a:r>
          </a:p>
        </p:txBody>
      </p:sp>
      <p:sp>
        <p:nvSpPr>
          <p:cNvPr id="18" name="Segnaposto testo 11">
            <a:extLst>
              <a:ext uri="{FF2B5EF4-FFF2-40B4-BE49-F238E27FC236}">
                <a16:creationId xmlns:a16="http://schemas.microsoft.com/office/drawing/2014/main" id="{7B2691BB-C18A-4BDF-B8C5-3FE9669646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0710" y="2898987"/>
            <a:ext cx="4833938" cy="392112"/>
          </a:xfrm>
        </p:spPr>
        <p:txBody>
          <a:bodyPr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Sottotitolo</a:t>
            </a:r>
          </a:p>
        </p:txBody>
      </p:sp>
      <p:pic>
        <p:nvPicPr>
          <p:cNvPr id="20" name="Elemento grafico 19">
            <a:extLst>
              <a:ext uri="{FF2B5EF4-FFF2-40B4-BE49-F238E27FC236}">
                <a16:creationId xmlns:a16="http://schemas.microsoft.com/office/drawing/2014/main" id="{C25B4BF5-56C8-4835-8120-0EDA4A4098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306" y="554831"/>
            <a:ext cx="2088000" cy="67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8423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Finale">
    <p:bg>
      <p:bgPr>
        <a:gradFill>
          <a:gsLst>
            <a:gs pos="0">
              <a:schemeClr val="tx1"/>
            </a:gs>
            <a:gs pos="100000">
              <a:srgbClr val="102C5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erchio">
            <a:extLst>
              <a:ext uri="{FF2B5EF4-FFF2-40B4-BE49-F238E27FC236}">
                <a16:creationId xmlns:a16="http://schemas.microsoft.com/office/drawing/2014/main" id="{5F9D2376-F92C-70CC-7E4A-0F195E3EA543}"/>
              </a:ext>
            </a:extLst>
          </p:cNvPr>
          <p:cNvSpPr/>
          <p:nvPr userDrawn="1"/>
        </p:nvSpPr>
        <p:spPr>
          <a:xfrm rot="10800000">
            <a:off x="7559558" y="-1156784"/>
            <a:ext cx="4010434" cy="4010172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30368"/>
                </a:srgbClr>
              </a:gs>
              <a:gs pos="13661">
                <a:srgbClr val="8896A9">
                  <a:alpha val="15184"/>
                </a:srgb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 dirty="0"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6" name="Cerchio">
            <a:extLst>
              <a:ext uri="{FF2B5EF4-FFF2-40B4-BE49-F238E27FC236}">
                <a16:creationId xmlns:a16="http://schemas.microsoft.com/office/drawing/2014/main" id="{A0BCD1D3-187F-0F81-48F7-30E4CB14B416}"/>
              </a:ext>
            </a:extLst>
          </p:cNvPr>
          <p:cNvSpPr/>
          <p:nvPr userDrawn="1"/>
        </p:nvSpPr>
        <p:spPr>
          <a:xfrm>
            <a:off x="7559559" y="2853390"/>
            <a:ext cx="4010432" cy="4010171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30000"/>
                </a:srgbClr>
              </a:gs>
              <a:gs pos="13661">
                <a:srgbClr val="8896A9">
                  <a:alpha val="14846"/>
                </a:srgb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>
                    <a:alpha val="20092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 dirty="0">
              <a:latin typeface="Manrope" pitchFamily="2" charset="0"/>
              <a:cs typeface="Arial" panose="020B0604020202020204" pitchFamily="34" charset="0"/>
            </a:endParaRP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2B7B3A0A-3A1B-42DE-B9AE-23655BAD3745}"/>
              </a:ext>
            </a:extLst>
          </p:cNvPr>
          <p:cNvCxnSpPr>
            <a:cxnSpLocks/>
          </p:cNvCxnSpPr>
          <p:nvPr userDrawn="1"/>
        </p:nvCxnSpPr>
        <p:spPr>
          <a:xfrm>
            <a:off x="11569992" y="0"/>
            <a:ext cx="0" cy="6858000"/>
          </a:xfrm>
          <a:prstGeom prst="line">
            <a:avLst/>
          </a:prstGeom>
          <a:ln w="6350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FD11F552-5459-4905-94FE-760C82166453}"/>
              </a:ext>
            </a:extLst>
          </p:cNvPr>
          <p:cNvCxnSpPr>
            <a:cxnSpLocks/>
          </p:cNvCxnSpPr>
          <p:nvPr userDrawn="1"/>
        </p:nvCxnSpPr>
        <p:spPr>
          <a:xfrm>
            <a:off x="7534019" y="0"/>
            <a:ext cx="0" cy="6858000"/>
          </a:xfrm>
          <a:prstGeom prst="line">
            <a:avLst/>
          </a:prstGeom>
          <a:ln w="6350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FFD66269-DBF7-485E-8F18-092A9E8BABC4}"/>
              </a:ext>
            </a:extLst>
          </p:cNvPr>
          <p:cNvCxnSpPr>
            <a:cxnSpLocks/>
          </p:cNvCxnSpPr>
          <p:nvPr userDrawn="1"/>
        </p:nvCxnSpPr>
        <p:spPr>
          <a:xfrm>
            <a:off x="0" y="2853390"/>
            <a:ext cx="12192000" cy="0"/>
          </a:xfrm>
          <a:prstGeom prst="line">
            <a:avLst/>
          </a:prstGeom>
          <a:ln w="6350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1109DBD9-E7E8-4D94-8FA4-DE3F5B0CDE0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0075" y="5231876"/>
            <a:ext cx="3866418" cy="1016547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it-IT" dirty="0"/>
              <a:t>Via</a:t>
            </a:r>
          </a:p>
          <a:p>
            <a:pPr lvl="0"/>
            <a:r>
              <a:rPr lang="it-IT" dirty="0"/>
              <a:t>T</a:t>
            </a:r>
          </a:p>
          <a:p>
            <a:pPr lvl="0"/>
            <a:r>
              <a:rPr lang="it-IT" dirty="0"/>
              <a:t>@ </a:t>
            </a:r>
          </a:p>
          <a:p>
            <a:pPr lvl="0"/>
            <a:r>
              <a:rPr lang="it-IT" dirty="0" err="1"/>
              <a:t>wwww</a:t>
            </a:r>
            <a:r>
              <a:rPr lang="it-IT" dirty="0"/>
              <a:t>.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F23B4B4-BBE2-4A30-A8C2-C0000C21DCBE}"/>
              </a:ext>
            </a:extLst>
          </p:cNvPr>
          <p:cNvSpPr txBox="1"/>
          <p:nvPr userDrawn="1"/>
        </p:nvSpPr>
        <p:spPr>
          <a:xfrm>
            <a:off x="516329" y="4858475"/>
            <a:ext cx="3932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b="1" dirty="0">
                <a:solidFill>
                  <a:schemeClr val="bg1"/>
                </a:solidFill>
              </a:rPr>
              <a:t>Contatti</a:t>
            </a:r>
          </a:p>
        </p:txBody>
      </p:sp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617515AB-8CBA-4526-8637-4BA0E0664E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5306" y="554831"/>
            <a:ext cx="2088000" cy="67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000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93F0EDA-05BE-4DD7-962F-394BE0791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08073"/>
            <a:ext cx="11522075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F0C82C2-529C-45CC-B0FD-8E1A68BA4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2060575"/>
            <a:ext cx="11522075" cy="4429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0"/>
            <a:r>
              <a:rPr lang="it-IT" dirty="0"/>
              <a:t>Secondo livello</a:t>
            </a:r>
          </a:p>
          <a:p>
            <a:pPr lvl="0"/>
            <a:r>
              <a:rPr lang="it-IT" dirty="0"/>
              <a:t>Terzo livello</a:t>
            </a:r>
          </a:p>
          <a:p>
            <a:pPr lvl="0"/>
            <a:r>
              <a:rPr lang="it-IT" dirty="0"/>
              <a:t>Quarto livello</a:t>
            </a:r>
          </a:p>
          <a:p>
            <a:pPr lvl="0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C0DE2DC-DBA6-437E-BB4E-13D6007AE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 b="1" spc="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POLITECNICO DI MILANO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2393C94-ABEE-455B-B13B-0EB6402D37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16274" y="39688"/>
            <a:ext cx="7598263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 spc="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it-IT"/>
              <a:t>Campo facoltativo e personalizzabile (inserire dal Tab INSERISCI &gt; intestazione e piè di pagina&gt; piè di pagina &gt;applica a tutte)</a:t>
            </a:r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A960919-4893-43E8-BAF3-C8C59F419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4538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700" spc="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21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680" r:id="rId3"/>
    <p:sldLayoutId id="2147483717" r:id="rId4"/>
    <p:sldLayoutId id="2147483681" r:id="rId5"/>
    <p:sldLayoutId id="2147483682" r:id="rId6"/>
    <p:sldLayoutId id="2147483719" r:id="rId7"/>
    <p:sldLayoutId id="2147483671" r:id="rId8"/>
    <p:sldLayoutId id="2147483726" r:id="rId9"/>
    <p:sldLayoutId id="2147483727" r:id="rId10"/>
    <p:sldLayoutId id="2147483662" r:id="rId11"/>
    <p:sldLayoutId id="2147483670" r:id="rId12"/>
    <p:sldLayoutId id="2147483720" r:id="rId13"/>
    <p:sldLayoutId id="2147483672" r:id="rId14"/>
    <p:sldLayoutId id="2147483677" r:id="rId15"/>
    <p:sldLayoutId id="2147483732" r:id="rId16"/>
    <p:sldLayoutId id="2147483721" r:id="rId17"/>
    <p:sldLayoutId id="2147483723" r:id="rId18"/>
    <p:sldLayoutId id="2147483724" r:id="rId19"/>
    <p:sldLayoutId id="2147483734" r:id="rId20"/>
    <p:sldLayoutId id="2147483735" r:id="rId21"/>
    <p:sldLayoutId id="2147483736" r:id="rId22"/>
    <p:sldLayoutId id="2147483675" r:id="rId23"/>
    <p:sldLayoutId id="2147483676" r:id="rId24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469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pos="2026" userDrawn="1">
          <p15:clr>
            <a:srgbClr val="F26B43"/>
          </p15:clr>
        </p15:guide>
        <p15:guide id="4" pos="1799" userDrawn="1">
          <p15:clr>
            <a:srgbClr val="F26B43"/>
          </p15:clr>
        </p15:guide>
        <p15:guide id="5" orient="horz" pos="1298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  <p15:guide id="7" orient="horz" pos="255" userDrawn="1">
          <p15:clr>
            <a:srgbClr val="F26B43"/>
          </p15:clr>
        </p15:guide>
        <p15:guide id="8" orient="horz" pos="981" userDrawn="1">
          <p15:clr>
            <a:srgbClr val="F26B43"/>
          </p15:clr>
        </p15:guide>
        <p15:guide id="9" orient="horz" pos="504" userDrawn="1">
          <p15:clr>
            <a:srgbClr val="F26B43"/>
          </p15:clr>
        </p15:guide>
        <p15:guide id="10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93F0EDA-05BE-4DD7-962F-394BE0791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08073"/>
            <a:ext cx="11522075" cy="84008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F0C82C2-529C-45CC-B0FD-8E1A68BA4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2060575"/>
            <a:ext cx="11522075" cy="4429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066552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12" r:id="rId2"/>
    <p:sldLayoutId id="2147483705" r:id="rId3"/>
    <p:sldLayoutId id="2147483706" r:id="rId4"/>
    <p:sldLayoutId id="2147483709" r:id="rId5"/>
    <p:sldLayoutId id="2147483714" r:id="rId6"/>
    <p:sldLayoutId id="2147483729" r:id="rId7"/>
    <p:sldLayoutId id="2147483715" r:id="rId8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lang="it-IT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4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4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469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pos="2026" userDrawn="1">
          <p15:clr>
            <a:srgbClr val="F26B43"/>
          </p15:clr>
        </p15:guide>
        <p15:guide id="4" pos="1799" userDrawn="1">
          <p15:clr>
            <a:srgbClr val="F26B43"/>
          </p15:clr>
        </p15:guide>
        <p15:guide id="5" orient="horz" pos="1298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  <p15:guide id="7" orient="horz" pos="255" userDrawn="1">
          <p15:clr>
            <a:srgbClr val="F26B43"/>
          </p15:clr>
        </p15:guide>
        <p15:guide id="8" orient="horz" pos="981" userDrawn="1">
          <p15:clr>
            <a:srgbClr val="F26B43"/>
          </p15:clr>
        </p15:guide>
        <p15:guide id="9" orient="horz" pos="504" userDrawn="1">
          <p15:clr>
            <a:srgbClr val="F26B43"/>
          </p15:clr>
        </p15:guide>
        <p15:guide id="10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026BBB7E-2B72-48A5-B8AC-092CE1F3CB5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0711" y="5923099"/>
            <a:ext cx="2745390" cy="318490"/>
          </a:xfrm>
        </p:spPr>
        <p:txBody>
          <a:bodyPr/>
          <a:lstStyle/>
          <a:p>
            <a:r>
              <a:rPr lang="it-IT" sz="1400" dirty="0"/>
              <a:t>Stefano Patitucci, 02/2026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139C8332-124C-4AAA-8F96-961CED6E6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890" y="2457873"/>
            <a:ext cx="11404889" cy="3279085"/>
          </a:xfrm>
        </p:spPr>
        <p:txBody>
          <a:bodyPr/>
          <a:lstStyle/>
          <a:p>
            <a:r>
              <a:rPr lang="it-IT" sz="4000" dirty="0"/>
              <a:t>In-core intrumentation: “</a:t>
            </a:r>
            <a:r>
              <a:rPr lang="it-IT" sz="4000" b="0" dirty="0"/>
              <a:t>Power distribution reconstruction from in-core detector measurements using gaussian process regression” Silva, A. S. et al. (2025)</a:t>
            </a:r>
          </a:p>
        </p:txBody>
      </p:sp>
      <p:sp>
        <p:nvSpPr>
          <p:cNvPr id="4" name="Segnaposto testo 1">
            <a:extLst>
              <a:ext uri="{FF2B5EF4-FFF2-40B4-BE49-F238E27FC236}">
                <a16:creationId xmlns:a16="http://schemas.microsoft.com/office/drawing/2014/main" id="{18D1A741-EF34-B0F0-CCE5-93B94ABA77B7}"/>
              </a:ext>
            </a:extLst>
          </p:cNvPr>
          <p:cNvSpPr txBox="1">
            <a:spLocks/>
          </p:cNvSpPr>
          <p:nvPr/>
        </p:nvSpPr>
        <p:spPr>
          <a:xfrm>
            <a:off x="5647174" y="5923099"/>
            <a:ext cx="5941936" cy="318490"/>
          </a:xfrm>
          <a:prstGeom prst="rect">
            <a:avLst/>
          </a:prstGeom>
        </p:spPr>
        <p:txBody>
          <a:bodyPr vert="horz" lIns="45719" tIns="45719" rIns="45719" bIns="45719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it-IT" sz="1200" kern="1200">
                <a:solidFill>
                  <a:srgbClr val="FFFFFF"/>
                </a:solidFill>
                <a:latin typeface="Manrope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/>
              <a:t>Radiation Detection &amp; Measurements, MSc Nuclear Engineering</a:t>
            </a:r>
          </a:p>
          <a:p>
            <a:pPr algn="r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21913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D34749-4E22-4C51-8D56-875FBC98E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6275" y="1418313"/>
            <a:ext cx="8640763" cy="1299008"/>
          </a:xfrm>
        </p:spPr>
        <p:txBody>
          <a:bodyPr/>
          <a:lstStyle/>
          <a:p>
            <a:r>
              <a:rPr lang="it-IT" dirty="0"/>
              <a:t>In-core instrumentation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AE592BED-7591-48F7-81D0-20D55911E2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65931" y="3961597"/>
            <a:ext cx="3091107" cy="2359025"/>
          </a:xfrm>
        </p:spPr>
        <p:txBody>
          <a:bodyPr/>
          <a:lstStyle/>
          <a:p>
            <a:r>
              <a:rPr lang="it-IT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7036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0C8F3ED0-8210-965A-9CC1-F43D6F806706}"/>
              </a:ext>
            </a:extLst>
          </p:cNvPr>
          <p:cNvGrpSpPr/>
          <p:nvPr/>
        </p:nvGrpSpPr>
        <p:grpSpPr>
          <a:xfrm>
            <a:off x="7026981" y="175755"/>
            <a:ext cx="4290871" cy="5860603"/>
            <a:chOff x="7015406" y="685041"/>
            <a:chExt cx="4290871" cy="586060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049F677-19BA-5419-6410-B63D202FD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905"/>
            <a:stretch>
              <a:fillRect/>
            </a:stretch>
          </p:blipFill>
          <p:spPr>
            <a:xfrm>
              <a:off x="7015406" y="685041"/>
              <a:ext cx="4290871" cy="5860603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5049DAB-9DAF-81EA-0A87-E08F196DFE0F}"/>
                </a:ext>
              </a:extLst>
            </p:cNvPr>
            <p:cNvSpPr/>
            <p:nvPr/>
          </p:nvSpPr>
          <p:spPr>
            <a:xfrm>
              <a:off x="7015406" y="685041"/>
              <a:ext cx="1393098" cy="13425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CAF5C2C-7995-1073-2E72-EA35CEF0206D}"/>
                </a:ext>
              </a:extLst>
            </p:cNvPr>
            <p:cNvSpPr/>
            <p:nvPr/>
          </p:nvSpPr>
          <p:spPr>
            <a:xfrm>
              <a:off x="8386196" y="948186"/>
              <a:ext cx="1393098" cy="5311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F511ACD-0A47-C0E0-C013-CA01FBC55B87}"/>
                </a:ext>
              </a:extLst>
            </p:cNvPr>
            <p:cNvSpPr/>
            <p:nvPr/>
          </p:nvSpPr>
          <p:spPr>
            <a:xfrm>
              <a:off x="9727301" y="1032592"/>
              <a:ext cx="1393098" cy="5311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7D52565-36C1-1863-0691-822B3C299966}"/>
                </a:ext>
              </a:extLst>
            </p:cNvPr>
            <p:cNvSpPr/>
            <p:nvPr/>
          </p:nvSpPr>
          <p:spPr>
            <a:xfrm>
              <a:off x="9283354" y="3573998"/>
              <a:ext cx="288029" cy="5311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D9BD759-743D-BE52-DEF4-7B0B84D90487}"/>
                </a:ext>
              </a:extLst>
            </p:cNvPr>
            <p:cNvSpPr/>
            <p:nvPr/>
          </p:nvSpPr>
          <p:spPr>
            <a:xfrm>
              <a:off x="8872812" y="4571224"/>
              <a:ext cx="288029" cy="8400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8C7D1BF5-87C2-48DD-AB8C-CA3CACCAD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In-core instrumentation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1A345C3-1AA5-4207-ADA3-AF6AA6FE4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POLITECNICO DI MILANO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9F921F1-17B0-49B1-BE1B-E6336170F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3</a:t>
            </a:fld>
            <a:endParaRPr lang="it-IT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52822CAF-BA6F-4E9D-86A5-64822FC205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1421295"/>
            <a:ext cx="6006202" cy="4532244"/>
          </a:xfrm>
        </p:spPr>
        <p:txBody>
          <a:bodyPr/>
          <a:lstStyle/>
          <a:p>
            <a:r>
              <a:rPr lang="it-IT" dirty="0"/>
              <a:t>PWR instrumentation for the monitoring of neutron fluence can be </a:t>
            </a:r>
            <a:r>
              <a:rPr lang="it-IT" b="1" dirty="0"/>
              <a:t>ex-core</a:t>
            </a:r>
            <a:r>
              <a:rPr lang="it-IT" dirty="0"/>
              <a:t> (leaking neutrons from outside the RV) or </a:t>
            </a:r>
            <a:r>
              <a:rPr lang="it-IT" b="1" dirty="0"/>
              <a:t>in-core </a:t>
            </a:r>
            <a:r>
              <a:rPr lang="it-IT" dirty="0"/>
              <a:t>(detectors inserted into the RV)</a:t>
            </a:r>
          </a:p>
          <a:p>
            <a:endParaRPr lang="it-IT" b="1" dirty="0"/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it-IT" dirty="0"/>
              <a:t>detectors measure </a:t>
            </a:r>
            <a:r>
              <a:rPr lang="it-IT" dirty="0">
                <a:solidFill>
                  <a:srgbClr val="0070C0"/>
                </a:solidFill>
              </a:rPr>
              <a:t>local neutron fluence</a:t>
            </a:r>
            <a:r>
              <a:rPr lang="it-IT" dirty="0">
                <a:solidFill>
                  <a:schemeClr val="accent1"/>
                </a:solidFill>
              </a:rPr>
              <a:t> </a:t>
            </a:r>
            <a:r>
              <a:rPr lang="it-IT" dirty="0"/>
              <a:t>(or flux) at discrete in-core locations;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endParaRPr lang="it-IT" dirty="0"/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it-IT" dirty="0"/>
              <a:t>using reactor physics models, neutron fluence is converted into </a:t>
            </a:r>
            <a:r>
              <a:rPr lang="it-IT" dirty="0">
                <a:solidFill>
                  <a:srgbClr val="0070C0"/>
                </a:solidFill>
              </a:rPr>
              <a:t>local fission rate</a:t>
            </a:r>
            <a:r>
              <a:rPr lang="it-IT" dirty="0"/>
              <a:t>;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endParaRPr lang="it-IT" dirty="0"/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it-IT" dirty="0"/>
              <a:t>fission-rate distribution is reconstructed into a </a:t>
            </a:r>
            <a:r>
              <a:rPr lang="it-IT" dirty="0">
                <a:solidFill>
                  <a:srgbClr val="0070C0"/>
                </a:solidFill>
              </a:rPr>
              <a:t>3D power map</a:t>
            </a:r>
            <a:r>
              <a:rPr lang="it-IT" dirty="0"/>
              <a:t>, consistent with measures of total thermal power and core calculations 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endParaRPr lang="it-IT" dirty="0"/>
          </a:p>
          <a:p>
            <a:r>
              <a:rPr lang="it-IT" dirty="0"/>
              <a:t>Allows safe and efficient operation of PWRs by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verification of control-rod alignment;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detection of axial and radial power asymmetries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54448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618A6-353E-C9C9-2435-AC8DCCCD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Taxonomy of in-core instrumentation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AD40A0-5DB7-64A9-A080-70261CA088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22007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C8690-F2C7-BF1B-3156-D5535AF87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EB9043-8EE8-049F-6629-A979B4CCA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Taxonomy of in-core instrumentation</a:t>
            </a:r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1C5529A-6CFF-805C-C10B-5ED89BFF9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POLITECNICO DI MILANO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635C92C-5E78-BDBD-8921-AB0A08DE4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5</a:t>
            </a:fld>
            <a:endParaRPr lang="it-IT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A60AA825-A8E9-A130-8205-E899048EA6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1421295"/>
            <a:ext cx="10691000" cy="4532244"/>
          </a:xfrm>
        </p:spPr>
        <p:txBody>
          <a:bodyPr/>
          <a:lstStyle/>
          <a:p>
            <a:r>
              <a:rPr lang="it-IT" dirty="0"/>
              <a:t>In-core instrumentation can be classified by:</a:t>
            </a:r>
          </a:p>
          <a:p>
            <a:endParaRPr lang="it-IT"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it-IT" b="1" dirty="0"/>
              <a:t>mobility</a:t>
            </a:r>
            <a:r>
              <a:rPr lang="it-IT" dirty="0"/>
              <a:t>: </a:t>
            </a:r>
            <a:r>
              <a:rPr lang="it-IT" dirty="0">
                <a:solidFill>
                  <a:srgbClr val="0070C0"/>
                </a:solidFill>
              </a:rPr>
              <a:t>fixed in-core detectors </a:t>
            </a:r>
            <a:r>
              <a:rPr lang="it-IT" dirty="0"/>
              <a:t>provide continuous signals at a limited set of locations / </a:t>
            </a:r>
            <a:r>
              <a:rPr lang="it-IT" dirty="0">
                <a:solidFill>
                  <a:srgbClr val="0070C0"/>
                </a:solidFill>
              </a:rPr>
              <a:t>movable systems </a:t>
            </a:r>
            <a:r>
              <a:rPr lang="it-IT" dirty="0"/>
              <a:t>perform periodic scans (</a:t>
            </a:r>
            <a:r>
              <a:rPr lang="it-IT" i="1" dirty="0"/>
              <a:t>flux mapping</a:t>
            </a:r>
            <a:r>
              <a:rPr lang="it-IT" dirty="0"/>
              <a:t>) with fission chamber moving axially;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it-IT" b="1" dirty="0"/>
              <a:t>measured field</a:t>
            </a:r>
            <a:r>
              <a:rPr lang="it-IT" dirty="0"/>
              <a:t>: </a:t>
            </a:r>
            <a:r>
              <a:rPr lang="it-IT" dirty="0">
                <a:solidFill>
                  <a:srgbClr val="0070C0"/>
                </a:solidFill>
              </a:rPr>
              <a:t>nuclear</a:t>
            </a:r>
            <a:r>
              <a:rPr lang="it-IT" dirty="0"/>
              <a:t> signals (flux, gamma-related) / </a:t>
            </a:r>
            <a:r>
              <a:rPr lang="it-IT" dirty="0">
                <a:solidFill>
                  <a:srgbClr val="0070C0"/>
                </a:solidFill>
              </a:rPr>
              <a:t>thermal</a:t>
            </a:r>
            <a:r>
              <a:rPr lang="it-IT" dirty="0"/>
              <a:t> signals (thermocouples); 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it-IT" b="1" dirty="0"/>
              <a:t>transduction principle</a:t>
            </a:r>
            <a:r>
              <a:rPr lang="it-IT" dirty="0"/>
              <a:t>: </a:t>
            </a:r>
            <a:r>
              <a:rPr lang="it-IT" dirty="0">
                <a:solidFill>
                  <a:srgbClr val="0070C0"/>
                </a:solidFill>
              </a:rPr>
              <a:t>self-powered</a:t>
            </a:r>
            <a:r>
              <a:rPr lang="it-IT" dirty="0"/>
              <a:t> detectors (SPND) / </a:t>
            </a:r>
            <a:r>
              <a:rPr lang="it-IT" dirty="0">
                <a:solidFill>
                  <a:srgbClr val="0070C0"/>
                </a:solidFill>
              </a:rPr>
              <a:t>externally biased </a:t>
            </a:r>
            <a:r>
              <a:rPr lang="it-IT" dirty="0"/>
              <a:t>detectors (e.g. fission chambers); 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it-IT" b="1" dirty="0"/>
              <a:t>time response</a:t>
            </a:r>
            <a:r>
              <a:rPr lang="it-IT" dirty="0"/>
              <a:t>: </a:t>
            </a:r>
            <a:r>
              <a:rPr lang="it-IT" dirty="0">
                <a:solidFill>
                  <a:srgbClr val="0070C0"/>
                </a:solidFill>
              </a:rPr>
              <a:t>prompt-response</a:t>
            </a:r>
            <a:r>
              <a:rPr lang="it-IT" dirty="0"/>
              <a:t> sensors / </a:t>
            </a:r>
            <a:r>
              <a:rPr lang="it-IT" dirty="0">
                <a:solidFill>
                  <a:srgbClr val="0070C0"/>
                </a:solidFill>
              </a:rPr>
              <a:t>delayed-response</a:t>
            </a:r>
            <a:r>
              <a:rPr lang="it-IT" dirty="0"/>
              <a:t> (SPNDs); 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it-IT" b="1" dirty="0"/>
              <a:t>spatial coverage</a:t>
            </a:r>
            <a:r>
              <a:rPr lang="it-IT" dirty="0"/>
              <a:t>: </a:t>
            </a:r>
            <a:r>
              <a:rPr lang="it-IT" dirty="0">
                <a:solidFill>
                  <a:srgbClr val="0070C0"/>
                </a:solidFill>
              </a:rPr>
              <a:t>«sparse but continuous»</a:t>
            </a:r>
            <a:r>
              <a:rPr lang="it-IT" dirty="0"/>
              <a:t> (only at instrumented assemblies but uninterrupted signal) / </a:t>
            </a:r>
            <a:r>
              <a:rPr lang="it-IT" dirty="0">
                <a:solidFill>
                  <a:srgbClr val="0070C0"/>
                </a:solidFill>
              </a:rPr>
              <a:t>«dense but campaign-based» </a:t>
            </a:r>
            <a:r>
              <a:rPr lang="it-IT" dirty="0"/>
              <a:t>(high-resolution scanning but only during measurement campaigns); 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it-IT" b="1" dirty="0"/>
              <a:t>function</a:t>
            </a:r>
            <a:r>
              <a:rPr lang="it-IT" dirty="0"/>
              <a:t> in core monitoring: </a:t>
            </a:r>
            <a:r>
              <a:rPr lang="it-IT" dirty="0">
                <a:solidFill>
                  <a:srgbClr val="0070C0"/>
                </a:solidFill>
              </a:rPr>
              <a:t>continuos trending </a:t>
            </a:r>
            <a:r>
              <a:rPr lang="it-IT" dirty="0"/>
              <a:t>(fixed)  / high-resolution </a:t>
            </a:r>
            <a:r>
              <a:rPr lang="it-IT" dirty="0">
                <a:solidFill>
                  <a:srgbClr val="0070C0"/>
                </a:solidFill>
              </a:rPr>
              <a:t>calibration of 3D power maps </a:t>
            </a:r>
            <a:r>
              <a:rPr lang="it-IT" dirty="0"/>
              <a:t>(movable flux mapping)</a:t>
            </a:r>
          </a:p>
        </p:txBody>
      </p:sp>
    </p:spTree>
    <p:extLst>
      <p:ext uri="{BB962C8B-B14F-4D97-AF65-F5344CB8AC3E}">
        <p14:creationId xmlns:p14="http://schemas.microsoft.com/office/powerpoint/2010/main" val="358127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B3F88-2EE3-8D48-331F-D6DE0FEBF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Fixed vs. movable in-core detectors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01E57-C836-1EE4-CD44-D8FAFDD9E9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420150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9CACD-F030-6FA5-0B23-52C53578A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5E9D43-A87B-B9DA-5138-ECA200F2C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Fixed vs. movable in-core detectors</a:t>
            </a:r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6E6BB39-65B2-71BD-3CC7-30F89E46E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POLITECNICO DI MILANO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6E176EC-3C99-5428-9DB9-6C33BF7AA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7</a:t>
            </a:fld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egnaposto testo 5">
                <a:extLst>
                  <a:ext uri="{FF2B5EF4-FFF2-40B4-BE49-F238E27FC236}">
                    <a16:creationId xmlns:a16="http://schemas.microsoft.com/office/drawing/2014/main" id="{2DA2CED8-D44F-038B-992D-86F66D452CDD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34963" y="1421295"/>
                <a:ext cx="5761037" cy="4532244"/>
              </a:xfrm>
            </p:spPr>
            <p:txBody>
              <a:bodyPr/>
              <a:lstStyle/>
              <a:p>
                <a:r>
                  <a:rPr lang="it-IT" b="1" dirty="0"/>
                  <a:t>Fixed</a:t>
                </a:r>
                <a:r>
                  <a:rPr lang="it-IT" dirty="0"/>
                  <a:t> detectors (Self Powered Neutron Detectors, SPNDs)</a:t>
                </a:r>
              </a:p>
              <a:p>
                <a:pPr marL="285750" indent="-285750"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it-IT" dirty="0"/>
                  <a:t> permanentely installed (typically in selected instrumented assemblies/axial levels), provide </a:t>
                </a:r>
                <a:r>
                  <a:rPr lang="it-IT" dirty="0">
                    <a:solidFill>
                      <a:srgbClr val="0070C0"/>
                    </a:solidFill>
                  </a:rPr>
                  <a:t>continuous trending signals </a:t>
                </a:r>
                <a:r>
                  <a:rPr lang="it-IT" dirty="0"/>
                  <a:t>but at sparse spatial locations; </a:t>
                </a:r>
              </a:p>
              <a:p>
                <a:pPr marL="285750" indent="-285750"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it-IT" dirty="0"/>
                  <a:t>neutrons activate emitter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i="0" dirty="0">
                        <a:latin typeface="Cambria Math" panose="02040503050406030204" pitchFamily="18" charset="0"/>
                      </a:rPr>
                      <m:t>Rh</m:t>
                    </m:r>
                  </m:oMath>
                </a14:m>
                <a:r>
                  <a:rPr lang="it-IT" dirty="0"/>
                  <a:t> or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i="0" dirty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it-IT" dirty="0"/>
                  <a:t>), the subsequent </a:t>
                </a:r>
                <a:r>
                  <a:rPr lang="it-IT" dirty="0">
                    <a:solidFill>
                      <a:srgbClr val="0070C0"/>
                    </a:solidFill>
                  </a:rPr>
                  <a:t>beta processes generate a small current </a:t>
                </a:r>
                <a:r>
                  <a:rPr lang="it-IT" dirty="0"/>
                  <a:t>between emitter and collector so no external bias in needed; </a:t>
                </a:r>
              </a:p>
              <a:p>
                <a:pPr marL="285750" indent="-285750"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it-IT" dirty="0"/>
                  <a:t>current is </a:t>
                </a:r>
                <a:r>
                  <a:rPr lang="it-IT" dirty="0">
                    <a:solidFill>
                      <a:srgbClr val="0070C0"/>
                    </a:solidFill>
                  </a:rPr>
                  <a:t>proportional to local neutron flux</a:t>
                </a:r>
                <a:r>
                  <a:rPr lang="it-IT" dirty="0"/>
                  <a:t>; </a:t>
                </a:r>
              </a:p>
              <a:p>
                <a:pPr marL="285750" indent="-285750"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it-IT" spc="-300" dirty="0"/>
                  <a:t> </a:t>
                </a:r>
                <a:r>
                  <a:rPr lang="it-IT" dirty="0">
                    <a:solidFill>
                      <a:srgbClr val="0070C0"/>
                    </a:solidFill>
                  </a:rPr>
                  <a:t>delayed response</a:t>
                </a:r>
                <a:r>
                  <a:rPr lang="it-IT" dirty="0"/>
                  <a:t> due to activation and decay time constants -&gt; less suited for fast transients</a:t>
                </a:r>
              </a:p>
              <a:p>
                <a:endParaRPr lang="it-IT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dirty="0"/>
              </a:p>
            </p:txBody>
          </p:sp>
        </mc:Choice>
        <mc:Fallback xmlns="">
          <p:sp>
            <p:nvSpPr>
              <p:cNvPr id="6" name="Segnaposto testo 5">
                <a:extLst>
                  <a:ext uri="{FF2B5EF4-FFF2-40B4-BE49-F238E27FC236}">
                    <a16:creationId xmlns:a16="http://schemas.microsoft.com/office/drawing/2014/main" id="{2DA2CED8-D44F-038B-992D-86F66D452C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34963" y="1421295"/>
                <a:ext cx="5761037" cy="4532244"/>
              </a:xfrm>
              <a:blipFill>
                <a:blip r:embed="rId2"/>
                <a:stretch>
                  <a:fillRect l="-2198" t="-838" r="-1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diagram of a cable and a cable&#10;&#10;AI-generated content may be incorrect.">
            <a:extLst>
              <a:ext uri="{FF2B5EF4-FFF2-40B4-BE49-F238E27FC236}">
                <a16:creationId xmlns:a16="http://schemas.microsoft.com/office/drawing/2014/main" id="{45DEFAC3-B50D-0C6F-44EA-FC28C5BAE6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04" y="4566473"/>
            <a:ext cx="5102154" cy="21117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egnaposto testo 5">
                <a:extLst>
                  <a:ext uri="{FF2B5EF4-FFF2-40B4-BE49-F238E27FC236}">
                    <a16:creationId xmlns:a16="http://schemas.microsoft.com/office/drawing/2014/main" id="{D033AFFF-7757-F102-8D4D-C21A32DD42B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47617" y="1421295"/>
                <a:ext cx="5445793" cy="3990677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/>
                  <a:t>Movable</a:t>
                </a:r>
                <a:r>
                  <a:rPr lang="en-US"/>
                  <a:t> detectors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/>
                  <a:t> fission chambers)</a:t>
                </a:r>
              </a:p>
              <a:p>
                <a:pPr marL="285750" indent="-285750"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spc="-300"/>
                  <a:t> </a:t>
                </a:r>
                <a:r>
                  <a:rPr lang="en-US">
                    <a:solidFill>
                      <a:srgbClr val="0070C0"/>
                    </a:solidFill>
                  </a:rPr>
                  <a:t>miniature fission chambers </a:t>
                </a:r>
                <a:r>
                  <a:rPr lang="en-US"/>
                  <a:t>containing </a:t>
                </a:r>
                <a:r>
                  <a:rPr lang="en-US">
                    <a:solidFill>
                      <a:srgbClr val="0070C0"/>
                    </a:solidFill>
                  </a:rPr>
                  <a:t>uranium oxide </a:t>
                </a:r>
                <a:r>
                  <a:rPr lang="en-US"/>
                  <a:t>as fissile deposit; </a:t>
                </a:r>
              </a:p>
              <a:p>
                <a:pPr marL="285750" indent="-285750"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/>
                  <a:t>fission fragments </a:t>
                </a:r>
                <a:r>
                  <a:rPr lang="en-US">
                    <a:solidFill>
                      <a:srgbClr val="0070C0"/>
                    </a:solidFill>
                  </a:rPr>
                  <a:t>ionize</a:t>
                </a:r>
                <a:r>
                  <a:rPr lang="en-US"/>
                  <a:t> the chamber gas and produce measurable signal; </a:t>
                </a:r>
              </a:p>
              <a:p>
                <a:pPr marL="285750" indent="-285750"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/>
                  <a:t>each detector is attached to a flexible cable and inserted into dedicated </a:t>
                </a:r>
                <a:r>
                  <a:rPr lang="en-US">
                    <a:solidFill>
                      <a:srgbClr val="0070C0"/>
                    </a:solidFill>
                  </a:rPr>
                  <a:t>instrumentation tubes</a:t>
                </a:r>
                <a:r>
                  <a:rPr lang="en-US"/>
                  <a:t>; </a:t>
                </a:r>
              </a:p>
              <a:p>
                <a:pPr marL="285750" indent="-285750"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/>
                  <a:t>detector is driven to the bottom of the fuel assembly, then pulled back at constant speed: </a:t>
                </a:r>
                <a:r>
                  <a:rPr lang="en-US">
                    <a:solidFill>
                      <a:srgbClr val="0070C0"/>
                    </a:solidFill>
                  </a:rPr>
                  <a:t>multiple axial readings </a:t>
                </a:r>
                <a:r>
                  <a:rPr lang="en-US"/>
                  <a:t>are acquired </a:t>
                </a:r>
                <a:r>
                  <a:rPr lang="en-US">
                    <a:solidFill>
                      <a:srgbClr val="0070C0"/>
                    </a:solidFill>
                  </a:rPr>
                  <a:t>during withdrawal </a:t>
                </a:r>
                <a:r>
                  <a:rPr lang="en-US"/>
                  <a:t>and summed;</a:t>
                </a:r>
              </a:p>
              <a:p>
                <a:pPr marL="285750" indent="-285750"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/>
                  <a:t>full-core maps require </a:t>
                </a:r>
                <a:r>
                  <a:rPr lang="en-US">
                    <a:solidFill>
                      <a:srgbClr val="0070C0"/>
                    </a:solidFill>
                  </a:rPr>
                  <a:t>reconstruction/interpolation </a:t>
                </a:r>
                <a:r>
                  <a:rPr lang="en-US"/>
                  <a:t>for non-instrumented assemblies</a:t>
                </a:r>
              </a:p>
            </p:txBody>
          </p:sp>
        </mc:Choice>
        <mc:Fallback>
          <p:sp>
            <p:nvSpPr>
              <p:cNvPr id="10" name="Segnaposto testo 5">
                <a:extLst>
                  <a:ext uri="{FF2B5EF4-FFF2-40B4-BE49-F238E27FC236}">
                    <a16:creationId xmlns:a16="http://schemas.microsoft.com/office/drawing/2014/main" id="{D033AFFF-7757-F102-8D4D-C21A32DD4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7617" y="1421295"/>
                <a:ext cx="5445793" cy="3990677"/>
              </a:xfrm>
              <a:prstGeom prst="rect">
                <a:avLst/>
              </a:prstGeom>
              <a:blipFill>
                <a:blip r:embed="rId4"/>
                <a:stretch>
                  <a:fillRect l="-2093" t="-633" r="-1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 descr="A close-up of a metal pen&#10;&#10;AI-generated content may be incorrect.">
            <a:extLst>
              <a:ext uri="{FF2B5EF4-FFF2-40B4-BE49-F238E27FC236}">
                <a16:creationId xmlns:a16="http://schemas.microsoft.com/office/drawing/2014/main" id="{3FB1C7CC-D855-4858-CF52-DAE44AD7B3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91" r="11529" b="29650"/>
          <a:stretch>
            <a:fillRect/>
          </a:stretch>
        </p:blipFill>
        <p:spPr>
          <a:xfrm flipH="1">
            <a:off x="9654361" y="5007934"/>
            <a:ext cx="2160315" cy="101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633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ED1FD-EB71-1460-275D-1F73F0014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98033-BC4D-8816-D2B0-89D6930AF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Power distribution reconstruction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25C59-1825-81DE-F95C-DB2754DD05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22010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7D1BF5-87C2-48DD-AB8C-CA3CACCAD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Power distribution reconstruction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1A345C3-1AA5-4207-ADA3-AF6AA6FE4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POLITECNICO DI MILANO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9F921F1-17B0-49B1-BE1B-E6336170F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9</a:t>
            </a:fld>
            <a:endParaRPr lang="it-IT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834472A-6EB9-4768-0734-AC0E963A20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5713" y="1362007"/>
            <a:ext cx="6607654" cy="1438422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/>
              <a:t>3D power distribution reconstruction is essential to </a:t>
            </a:r>
            <a:r>
              <a:rPr lang="en-US" b="1"/>
              <a:t>evaluate key operational parameters </a:t>
            </a:r>
            <a:r>
              <a:rPr lang="en-US"/>
              <a:t>that define thermal-hydraulic safety margins e.g. </a:t>
            </a:r>
            <a:r>
              <a:rPr lang="en-US">
                <a:solidFill>
                  <a:srgbClr val="0070C0"/>
                </a:solidFill>
              </a:rPr>
              <a:t>enthalpy rise factor</a:t>
            </a:r>
            <a:r>
              <a:rPr lang="en-US"/>
              <a:t> (measures how uneven power is distributed), departure from nucleate boiling ratio (</a:t>
            </a:r>
            <a:r>
              <a:rPr lang="en-US">
                <a:solidFill>
                  <a:srgbClr val="0070C0"/>
                </a:solidFill>
              </a:rPr>
              <a:t>DNBR</a:t>
            </a:r>
            <a:r>
              <a:rPr lang="en-US"/>
              <a:t>, CHF/local HF ratio) or </a:t>
            </a:r>
            <a:r>
              <a:rPr lang="en-US">
                <a:solidFill>
                  <a:srgbClr val="0070C0"/>
                </a:solidFill>
              </a:rPr>
              <a:t>quadrant tilt ratio</a:t>
            </a:r>
            <a:r>
              <a:rPr lang="en-US"/>
              <a:t> (compares power among core quadrants)</a:t>
            </a:r>
          </a:p>
        </p:txBody>
      </p:sp>
      <p:sp>
        <p:nvSpPr>
          <p:cNvPr id="16" name="Rettangolo con angoli arrotondati 6">
            <a:extLst>
              <a:ext uri="{FF2B5EF4-FFF2-40B4-BE49-F238E27FC236}">
                <a16:creationId xmlns:a16="http://schemas.microsoft.com/office/drawing/2014/main" id="{DD8E83C5-5BFB-A845-0138-6A13296AC2EA}"/>
              </a:ext>
            </a:extLst>
          </p:cNvPr>
          <p:cNvSpPr>
            <a:spLocks/>
          </p:cNvSpPr>
          <p:nvPr/>
        </p:nvSpPr>
        <p:spPr>
          <a:xfrm>
            <a:off x="375713" y="2985383"/>
            <a:ext cx="6607654" cy="1166528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tIns="45720" bIns="45720" rtlCol="0" anchor="t" anchorCtr="0">
            <a:noAutofit/>
          </a:bodyPr>
          <a:lstStyle/>
          <a:p>
            <a:pPr algn="ctr"/>
            <a:r>
              <a:rPr lang="it-IT" sz="1600" dirty="0" err="1">
                <a:solidFill>
                  <a:schemeClr val="tx1"/>
                </a:solidFill>
              </a:rPr>
              <a:t>in-core instrumentation provides assembly-wise, axially integrated neutron flux only at a </a:t>
            </a:r>
            <a:r>
              <a:rPr lang="it-IT" sz="1600" b="1" dirty="0" err="1">
                <a:solidFill>
                  <a:schemeClr val="tx1"/>
                </a:solidFill>
              </a:rPr>
              <a:t>limited number of instrumented fuel assemblies </a:t>
            </a:r>
            <a:r>
              <a:rPr lang="it-IT" sz="1600" dirty="0" err="1">
                <a:solidFill>
                  <a:schemeClr val="tx1"/>
                </a:solidFill>
              </a:rPr>
              <a:t>(to reduce cost and complexity)</a:t>
            </a:r>
          </a:p>
          <a:p>
            <a:pPr algn="ctr"/>
            <a:endParaRPr lang="it-IT" dirty="0" err="1">
              <a:solidFill>
                <a:schemeClr val="tx1"/>
              </a:solidFill>
            </a:endParaRPr>
          </a:p>
        </p:txBody>
      </p:sp>
      <p:sp>
        <p:nvSpPr>
          <p:cNvPr id="17" name="Rettangolo con angoli arrotondati 6">
            <a:extLst>
              <a:ext uri="{FF2B5EF4-FFF2-40B4-BE49-F238E27FC236}">
                <a16:creationId xmlns:a16="http://schemas.microsoft.com/office/drawing/2014/main" id="{1DF4DDAB-B400-889F-8A6D-1B66B05DD3E2}"/>
              </a:ext>
            </a:extLst>
          </p:cNvPr>
          <p:cNvSpPr>
            <a:spLocks/>
          </p:cNvSpPr>
          <p:nvPr/>
        </p:nvSpPr>
        <p:spPr>
          <a:xfrm>
            <a:off x="1204388" y="5381109"/>
            <a:ext cx="4950304" cy="813524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tIns="45720" bIns="0" rtlCol="0" anchor="t" anchorCtr="0">
            <a:noAutofit/>
          </a:bodyPr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 power in the remaining assemblies must be </a:t>
            </a:r>
            <a:r>
              <a:rPr lang="en-US" sz="1600" b="1">
                <a:solidFill>
                  <a:schemeClr val="tx1"/>
                </a:solidFill>
              </a:rPr>
              <a:t>estimated</a:t>
            </a:r>
            <a:r>
              <a:rPr lang="en-US" sz="1600">
                <a:solidFill>
                  <a:schemeClr val="tx1"/>
                </a:solidFill>
              </a:rPr>
              <a:t> from sparse measurements</a:t>
            </a:r>
          </a:p>
          <a:p>
            <a:pPr algn="ctr"/>
            <a:endParaRPr lang="it-IT" dirty="0" err="1">
              <a:solidFill>
                <a:schemeClr val="tx1"/>
              </a:solidFill>
            </a:endParaRPr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50FAFD05-EB45-406F-96D3-9E9AAFB5302A}"/>
              </a:ext>
            </a:extLst>
          </p:cNvPr>
          <p:cNvSpPr/>
          <p:nvPr/>
        </p:nvSpPr>
        <p:spPr>
          <a:xfrm>
            <a:off x="3469990" y="4336865"/>
            <a:ext cx="419100" cy="859291"/>
          </a:xfrm>
          <a:prstGeom prst="downArrow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24A0D3-FC32-9C70-558F-92B6DDA53E08}"/>
              </a:ext>
            </a:extLst>
          </p:cNvPr>
          <p:cNvSpPr txBox="1"/>
          <p:nvPr/>
        </p:nvSpPr>
        <p:spPr>
          <a:xfrm>
            <a:off x="7823199" y="1401795"/>
            <a:ext cx="3878787" cy="4333704"/>
          </a:xfrm>
          <a:prstGeom prst="roundRect">
            <a:avLst/>
          </a:prstGeom>
          <a:solidFill>
            <a:srgbClr val="FFC000">
              <a:alpha val="70000"/>
            </a:srgbClr>
          </a:solidFill>
        </p:spPr>
        <p:txBody>
          <a:bodyPr wrap="square" rtlCol="0">
            <a:noAutofit/>
          </a:bodyPr>
          <a:lstStyle/>
          <a:p>
            <a:r>
              <a:rPr lang="en-US" sz="1600" b="1"/>
              <a:t>Supervised learning problem</a:t>
            </a:r>
            <a:r>
              <a:rPr lang="en-US" sz="1600"/>
              <a:t>: unknown function (core power distribution) is inferred via limited measured data</a:t>
            </a:r>
          </a:p>
          <a:p>
            <a:endParaRPr lang="en-US" sz="1600"/>
          </a:p>
          <a:p>
            <a:r>
              <a:rPr lang="en-US" sz="1600" b="1"/>
              <a:t>Gaussian Process Regression</a:t>
            </a:r>
            <a:r>
              <a:rPr lang="en-US" sz="1600">
                <a:solidFill>
                  <a:srgbClr val="0070C0"/>
                </a:solidFill>
              </a:rPr>
              <a:t> </a:t>
            </a:r>
            <a:r>
              <a:rPr lang="en-US" sz="1600"/>
              <a:t>methodological approach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spc="-300"/>
              <a:t> </a:t>
            </a:r>
            <a:r>
              <a:rPr lang="en-US" sz="1600">
                <a:solidFill>
                  <a:srgbClr val="0070C0"/>
                </a:solidFill>
              </a:rPr>
              <a:t>non-parametric</a:t>
            </a:r>
            <a:r>
              <a:rPr lang="en-US" sz="1600"/>
              <a:t>: does not assume a fixed functional form and estimate a finite set of parameters, instead infers the functional itself;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spc="-300"/>
              <a:t> </a:t>
            </a:r>
            <a:r>
              <a:rPr lang="en-US" sz="1600">
                <a:solidFill>
                  <a:srgbClr val="0070C0"/>
                </a:solidFill>
              </a:rPr>
              <a:t>Bayesian</a:t>
            </a:r>
            <a:r>
              <a:rPr lang="en-US" sz="1600"/>
              <a:t>, power distribution described by a probability distribution</a:t>
            </a:r>
          </a:p>
        </p:txBody>
      </p:sp>
    </p:spTree>
    <p:extLst>
      <p:ext uri="{BB962C8B-B14F-4D97-AF65-F5344CB8AC3E}">
        <p14:creationId xmlns:p14="http://schemas.microsoft.com/office/powerpoint/2010/main" val="2136935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C3BEF-64A5-6E87-8868-C26DA5D91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7F648-B1F8-ED0C-FA74-49AEA0D4C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 and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83848-74D8-7A27-067B-3057936913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015798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7D1BF5-87C2-48DD-AB8C-CA3CACCAD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08073"/>
            <a:ext cx="11522075" cy="840083"/>
          </a:xfrm>
        </p:spPr>
        <p:txBody>
          <a:bodyPr/>
          <a:lstStyle/>
          <a:p>
            <a:r>
              <a:rPr lang="it-IT"/>
              <a:t>Dataset and methods</a:t>
            </a:r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1A345C3-1AA5-4207-ADA3-AF6AA6FE42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4" y="39688"/>
            <a:ext cx="2383298" cy="365125"/>
          </a:xfrm>
        </p:spPr>
        <p:txBody>
          <a:bodyPr/>
          <a:lstStyle/>
          <a:p>
            <a:r>
              <a:rPr lang="en-US"/>
              <a:t>POLITECNICO DI MILANO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9F921F1-17B0-49B1-BE1B-E6336170F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/>
          <a:lstStyle/>
          <a:p>
            <a:fld id="{3135EEA2-8D42-4D46-95A6-66E65FDC5EB1}" type="slidenum">
              <a:rPr lang="it-IT" smtClean="0"/>
              <a:pPr/>
              <a:t>11</a:t>
            </a:fld>
            <a:endParaRPr lang="it-IT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52822CAF-BA6F-4E9D-86A5-64822FC205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2" y="1620802"/>
            <a:ext cx="5330113" cy="4429125"/>
          </a:xfrm>
        </p:spPr>
        <p:txBody>
          <a:bodyPr/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/>
              <a:t>due to the lack of full-core experimental power maps, the researchers </a:t>
            </a:r>
            <a:r>
              <a:rPr lang="en-US" b="1"/>
              <a:t>emulated</a:t>
            </a:r>
            <a:r>
              <a:rPr lang="en-US"/>
              <a:t> data from the </a:t>
            </a:r>
            <a:r>
              <a:rPr lang="en-US" b="1"/>
              <a:t>Angra 1</a:t>
            </a:r>
            <a:r>
              <a:rPr lang="en-US"/>
              <a:t> nuclear power plant, a two-loop </a:t>
            </a:r>
            <a:r>
              <a:rPr lang="en-US" b="1"/>
              <a:t>PWR</a:t>
            </a:r>
            <a:r>
              <a:rPr lang="en-US"/>
              <a:t> in Brazil;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/>
              <a:t>assembly-wise integrated power values for all </a:t>
            </a:r>
            <a:r>
              <a:rPr lang="en-US" b="1"/>
              <a:t>121 fuel assemblies</a:t>
            </a:r>
            <a:r>
              <a:rPr lang="en-US"/>
              <a:t> across multiple depletion steps;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/>
              <a:t>data from the </a:t>
            </a:r>
            <a:r>
              <a:rPr lang="en-US" b="1"/>
              <a:t>36 instrumented assemblies </a:t>
            </a:r>
            <a:r>
              <a:rPr lang="en-US"/>
              <a:t>served as the training set, while data from the remaining </a:t>
            </a:r>
            <a:r>
              <a:rPr lang="en-US" b="1"/>
              <a:t>85 non-instrumented assemblies</a:t>
            </a:r>
            <a:r>
              <a:rPr lang="en-US"/>
              <a:t> was used as the reference (test) set to validate the model's accuracy</a:t>
            </a:r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Segnaposto testo 17">
                <a:extLst>
                  <a:ext uri="{FF2B5EF4-FFF2-40B4-BE49-F238E27FC236}">
                    <a16:creationId xmlns:a16="http://schemas.microsoft.com/office/drawing/2014/main" id="{83AFCC30-F706-4D1B-B7ED-E8A1D8F1793D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6300000" y="1620802"/>
                <a:ext cx="5330113" cy="4429125"/>
              </a:xfrm>
            </p:spPr>
            <p:txBody>
              <a:bodyPr/>
              <a:lstStyle/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b="1"/>
                  <a:t>OpenMC</a:t>
                </a:r>
                <a:r>
                  <a:rPr lang="en-US"/>
                  <a:t> Monte Carlo code to create a fully heterogeneous </a:t>
                </a:r>
                <a:r>
                  <a:rPr lang="en-US">
                    <a:solidFill>
                      <a:srgbClr val="0070C0"/>
                    </a:solidFill>
                  </a:rPr>
                  <a:t>core model</a:t>
                </a:r>
                <a:r>
                  <a:rPr lang="en-US"/>
                  <a:t>, implemented in Python using the GPflow library;</a:t>
                </a:r>
                <a:endParaRPr lang="it-IT"/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b="1"/>
                  <a:t>GPR</a:t>
                </a:r>
                <a:r>
                  <a:rPr lang="en-US"/>
                  <a:t> predicts a probability distribution (mean and variance) for every point, allowing it to estimate its own uncertainty: </a:t>
                </a:r>
                <a:r>
                  <a:rPr lang="en-US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</m:d>
                  </m:oMath>
                </a14:m>
                <a:r>
                  <a:rPr lang="en-US"/>
                  <a:t>;</a:t>
                </a:r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/>
                  <a:t>transformed the core's square lattice into </a:t>
                </a:r>
                <a:r>
                  <a:rPr lang="en-US" b="1"/>
                  <a:t>centralized polar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/>
                  <a:t> to better exploit the reactor's natural symmetry;</a:t>
                </a:r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/>
                  <a:t>they utilized a custom </a:t>
                </a:r>
                <a:r>
                  <a:rPr lang="en-US" b="1"/>
                  <a:t>kernel, </a:t>
                </a:r>
                <a:r>
                  <a:rPr lang="en-US"/>
                  <a:t>a mathematical function that measures similarity between points, combining a rational </a:t>
                </a:r>
                <a:r>
                  <a:rPr lang="en-US">
                    <a:solidFill>
                      <a:srgbClr val="0070C0"/>
                    </a:solidFill>
                  </a:rPr>
                  <a:t>quadratic </a:t>
                </a:r>
                <a:r>
                  <a:rPr lang="en-US"/>
                  <a:t>kernel for radial distance and a </a:t>
                </a:r>
                <a:r>
                  <a:rPr lang="en-US">
                    <a:solidFill>
                      <a:srgbClr val="0070C0"/>
                    </a:solidFill>
                  </a:rPr>
                  <a:t>periodic</a:t>
                </a:r>
                <a:r>
                  <a:rPr lang="en-US"/>
                  <a:t> kernel for angular positions</a:t>
                </a:r>
                <a:endParaRPr lang="it-IT" dirty="0"/>
              </a:p>
            </p:txBody>
          </p:sp>
        </mc:Choice>
        <mc:Fallback xmlns="">
          <p:sp>
            <p:nvSpPr>
              <p:cNvPr id="18" name="Segnaposto testo 17">
                <a:extLst>
                  <a:ext uri="{FF2B5EF4-FFF2-40B4-BE49-F238E27FC236}">
                    <a16:creationId xmlns:a16="http://schemas.microsoft.com/office/drawing/2014/main" id="{83AFCC30-F706-4D1B-B7ED-E8A1D8F179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6300000" y="1620802"/>
                <a:ext cx="5330113" cy="4429125"/>
              </a:xfrm>
              <a:blipFill>
                <a:blip r:embed="rId2"/>
                <a:stretch>
                  <a:fillRect l="-2138" t="-857" r="-2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4768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9BEFF-7AA8-47FA-D8B0-FE404C651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CB70F-3360-71E7-C9DF-FF6531EFF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 and interpretation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0951E-DEB5-98B9-20C1-B8D88DD3E5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81276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DF122-C953-2F26-A17F-C1B566CDE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7C8EE2-2AF7-38CD-E399-C6F81C6A7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640699"/>
            <a:ext cx="2163688" cy="840083"/>
          </a:xfrm>
        </p:spPr>
        <p:txBody>
          <a:bodyPr/>
          <a:lstStyle/>
          <a:p>
            <a:r>
              <a:rPr lang="it-IT" dirty="0"/>
              <a:t>Results and interpretation 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63D18FD-F7A0-2FD1-0591-5E0D668A6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POLITECNICO DI MILANO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7692D3D-0C4C-6BD4-5285-128FC6879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13</a:t>
            </a:fld>
            <a:endParaRPr lang="it-IT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AF2F2DF1-8EAF-8D75-18E1-83766F62C3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508539"/>
            <a:ext cx="2163762" cy="365126"/>
          </a:xfrm>
        </p:spPr>
        <p:txBody>
          <a:bodyPr>
            <a:normAutofit/>
          </a:bodyPr>
          <a:lstStyle/>
          <a:p>
            <a:r>
              <a:rPr lang="it-IT" b="1" dirty="0" err="1"/>
              <a:t>High accuracy</a:t>
            </a:r>
            <a:endParaRPr lang="it-IT" b="1" dirty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370CB63F-8131-6A99-0652-B9193AE99A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16274" y="2508540"/>
            <a:ext cx="8640763" cy="1529854"/>
          </a:xfrm>
        </p:spPr>
        <p:txBody>
          <a:bodyPr/>
          <a:lstStyle/>
          <a:p>
            <a:r>
              <a:rPr lang="en-US"/>
              <a:t>In a scenario where all 36 detectors were functional, the model was </a:t>
            </a:r>
            <a:r>
              <a:rPr lang="en-US">
                <a:solidFill>
                  <a:srgbClr val="0070C0"/>
                </a:solidFill>
              </a:rPr>
              <a:t>highly precise</a:t>
            </a:r>
            <a:r>
              <a:rPr lang="en-US"/>
              <a:t>, with a </a:t>
            </a:r>
            <a:r>
              <a:rPr lang="en-US" b="1"/>
              <a:t>mean relative discrepancy </a:t>
            </a:r>
            <a:r>
              <a:rPr lang="en-US"/>
              <a:t>below</a:t>
            </a:r>
            <a:r>
              <a:rPr lang="en-US" b="1"/>
              <a:t> 0.8%</a:t>
            </a:r>
            <a:r>
              <a:rPr lang="en-US"/>
              <a:t> and a </a:t>
            </a:r>
            <a:r>
              <a:rPr lang="en-US" b="1"/>
              <a:t>maximum discrepancy</a:t>
            </a:r>
            <a:r>
              <a:rPr lang="en-US"/>
              <a:t> under </a:t>
            </a:r>
            <a:r>
              <a:rPr lang="en-US" b="1"/>
              <a:t>2.5%</a:t>
            </a:r>
            <a:r>
              <a:rPr lang="en-US"/>
              <a:t> across all fuel depletion steps </a:t>
            </a:r>
            <a:endParaRPr lang="it-IT" dirty="0"/>
          </a:p>
        </p:txBody>
      </p:sp>
      <p:sp>
        <p:nvSpPr>
          <p:cNvPr id="8" name="Segnaposto testo 5">
            <a:extLst>
              <a:ext uri="{FF2B5EF4-FFF2-40B4-BE49-F238E27FC236}">
                <a16:creationId xmlns:a16="http://schemas.microsoft.com/office/drawing/2014/main" id="{92B8D87B-97E3-9043-CCDE-FE2D735D69DE}"/>
              </a:ext>
            </a:extLst>
          </p:cNvPr>
          <p:cNvSpPr txBox="1">
            <a:spLocks/>
          </p:cNvSpPr>
          <p:nvPr/>
        </p:nvSpPr>
        <p:spPr>
          <a:xfrm>
            <a:off x="334964" y="3770935"/>
            <a:ext cx="2163762" cy="36512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Robustness to Failure</a:t>
            </a:r>
            <a:endParaRPr lang="en-US" b="1" dirty="0"/>
          </a:p>
        </p:txBody>
      </p:sp>
      <p:sp>
        <p:nvSpPr>
          <p:cNvPr id="9" name="Segnaposto testo 6">
            <a:extLst>
              <a:ext uri="{FF2B5EF4-FFF2-40B4-BE49-F238E27FC236}">
                <a16:creationId xmlns:a16="http://schemas.microsoft.com/office/drawing/2014/main" id="{964524EC-32A0-98A1-83FD-8E6F3D5C8F48}"/>
              </a:ext>
            </a:extLst>
          </p:cNvPr>
          <p:cNvSpPr txBox="1">
            <a:spLocks/>
          </p:cNvSpPr>
          <p:nvPr/>
        </p:nvSpPr>
        <p:spPr>
          <a:xfrm>
            <a:off x="3216274" y="3770936"/>
            <a:ext cx="8640763" cy="2127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</a:pPr>
            <a:r>
              <a:rPr lang="en-US"/>
              <a:t>The researchers conducted a “stress test” by simulating the failure of individual detectors: even in the worst-case single-failure scenario, the </a:t>
            </a:r>
            <a:r>
              <a:rPr lang="en-US" b="1"/>
              <a:t>maximum relative discrepancy </a:t>
            </a:r>
            <a:r>
              <a:rPr lang="en-US"/>
              <a:t>remained low at </a:t>
            </a:r>
            <a:r>
              <a:rPr lang="en-US" b="1"/>
              <a:t>5.29%</a:t>
            </a:r>
            <a:r>
              <a:rPr lang="en-US"/>
              <a:t>,</a:t>
            </a:r>
            <a:r>
              <a:rPr lang="en-US" b="1"/>
              <a:t> </a:t>
            </a:r>
            <a:r>
              <a:rPr lang="en-US"/>
              <a:t>corresponding to</a:t>
            </a:r>
            <a:r>
              <a:rPr lang="en-US">
                <a:solidFill>
                  <a:srgbClr val="0070C0"/>
                </a:solidFill>
              </a:rPr>
              <a:t> </a:t>
            </a:r>
            <a:r>
              <a:rPr lang="en-US"/>
              <a:t>those </a:t>
            </a:r>
            <a:r>
              <a:rPr lang="en-US">
                <a:solidFill>
                  <a:srgbClr val="0070C0"/>
                </a:solidFill>
              </a:rPr>
              <a:t>assemblies</a:t>
            </a:r>
            <a:r>
              <a:rPr lang="en-US"/>
              <a:t> that </a:t>
            </a:r>
            <a:r>
              <a:rPr lang="en-US">
                <a:solidFill>
                  <a:srgbClr val="0070C0"/>
                </a:solidFill>
              </a:rPr>
              <a:t>lacked symmetric counterparts </a:t>
            </a:r>
            <a:r>
              <a:rPr lang="en-US"/>
              <a:t>in other quadrants of the core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758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1A345C3-1AA5-4207-ADA3-AF6AA6FE4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POLITECNICO DI MILANO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9F921F1-17B0-49B1-BE1B-E6336170F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14</a:t>
            </a:fld>
            <a:endParaRPr lang="it-IT"/>
          </a:p>
        </p:txBody>
      </p:sp>
      <p:pic>
        <p:nvPicPr>
          <p:cNvPr id="13" name="Picture 12" descr="A colorful chart with numbers&#10;&#10;AI-generated content may be incorrect.">
            <a:extLst>
              <a:ext uri="{FF2B5EF4-FFF2-40B4-BE49-F238E27FC236}">
                <a16:creationId xmlns:a16="http://schemas.microsoft.com/office/drawing/2014/main" id="{ED3F2926-C0D2-870F-8C7D-EA06FE69F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1624095"/>
            <a:ext cx="5604150" cy="4593206"/>
          </a:xfrm>
          <a:prstGeom prst="rect">
            <a:avLst/>
          </a:prstGeom>
        </p:spPr>
      </p:pic>
      <p:sp>
        <p:nvSpPr>
          <p:cNvPr id="16" name="Titolo 1">
            <a:extLst>
              <a:ext uri="{FF2B5EF4-FFF2-40B4-BE49-F238E27FC236}">
                <a16:creationId xmlns:a16="http://schemas.microsoft.com/office/drawing/2014/main" id="{660FBF02-572F-4792-D1FF-8DECBBA9101D}"/>
              </a:ext>
            </a:extLst>
          </p:cNvPr>
          <p:cNvSpPr txBox="1">
            <a:spLocks/>
          </p:cNvSpPr>
          <p:nvPr/>
        </p:nvSpPr>
        <p:spPr>
          <a:xfrm>
            <a:off x="334964" y="640699"/>
            <a:ext cx="2163688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Results and interpretation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03852D-B4C6-A2B2-2A9B-A6EEE7F2FC64}"/>
              </a:ext>
            </a:extLst>
          </p:cNvPr>
          <p:cNvSpPr txBox="1"/>
          <p:nvPr/>
        </p:nvSpPr>
        <p:spPr>
          <a:xfrm>
            <a:off x="6399645" y="2833249"/>
            <a:ext cx="49106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Overall, the GPR model successfully “learned” the complex power distribution </a:t>
            </a:r>
            <a:r>
              <a:rPr lang="en-US" sz="1600" b="1"/>
              <a:t>without requiring</a:t>
            </a:r>
            <a:r>
              <a:rPr lang="en-US" sz="1600"/>
              <a:t> pre-calculated </a:t>
            </a:r>
            <a:r>
              <a:rPr lang="en-US" sz="1600" b="1"/>
              <a:t>“calibration factors” </a:t>
            </a:r>
            <a:r>
              <a:rPr lang="en-US" sz="1600"/>
              <a:t>from diffusion simulations which can be less accurate than MC methods and unreliable if the reactor's actual state deviates from the simulation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295A20-B9A9-8EC1-BB24-FB573342E6F8}"/>
              </a:ext>
            </a:extLst>
          </p:cNvPr>
          <p:cNvSpPr txBox="1"/>
          <p:nvPr/>
        </p:nvSpPr>
        <p:spPr>
          <a:xfrm>
            <a:off x="6399645" y="1624095"/>
            <a:ext cx="49106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>
                <a:solidFill>
                  <a:schemeClr val="tx1">
                    <a:lumMod val="65000"/>
                    <a:lumOff val="35000"/>
                  </a:schemeClr>
                </a:solidFill>
              </a:rPr>
              <a:t>Assembly-wise power distribution at BOC: normalized relative power (above) and percent relative uncertainty (below) for each fuel assembly</a:t>
            </a:r>
          </a:p>
        </p:txBody>
      </p:sp>
    </p:spTree>
    <p:extLst>
      <p:ext uri="{BB962C8B-B14F-4D97-AF65-F5344CB8AC3E}">
        <p14:creationId xmlns:p14="http://schemas.microsoft.com/office/powerpoint/2010/main" val="1396054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65BF5-116E-D106-9E36-A13541DD8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ECE61-CA94-1548-9121-63B9D9056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Practical implications and key 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C6D3B-394D-D1D4-F16C-3D4C32BF6C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261763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8F4E6-72F2-4F73-9B22-239B39D74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B716A6-781A-5579-CE54-B8C224917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Practical implications and key takeaways</a:t>
            </a:r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9A071AE-C5AD-8C8B-A9A6-3A568172A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POLITECNICO DI MILANO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C1C6AF9-5BF4-72AC-5A54-2060EBF6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16</a:t>
            </a:fld>
            <a:endParaRPr lang="it-IT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F20F19A1-E122-9A13-F3A4-7A98E40C57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8620" y="3131802"/>
            <a:ext cx="2503621" cy="2706733"/>
          </a:xfrm>
        </p:spPr>
        <p:txBody>
          <a:bodyPr>
            <a:normAutofit/>
          </a:bodyPr>
          <a:lstStyle/>
          <a:p>
            <a:r>
              <a:rPr lang="en-US" sz="1600"/>
              <a:t>The GPR model is computationally efficient: it reconstructs power distributions for 10 depletion steps in just </a:t>
            </a:r>
            <a:r>
              <a:rPr lang="en-US" sz="1600">
                <a:solidFill>
                  <a:srgbClr val="0070C0"/>
                </a:solidFill>
              </a:rPr>
              <a:t>7.15 seconds</a:t>
            </a:r>
            <a:r>
              <a:rPr lang="en-US" sz="1600"/>
              <a:t>,</a:t>
            </a:r>
            <a:r>
              <a:rPr lang="en-US" sz="1600" b="1"/>
              <a:t> </a:t>
            </a:r>
            <a:r>
              <a:rPr lang="en-US" sz="1600"/>
              <a:t>making it suitable for real-time monitoring of reactor safety margins</a:t>
            </a:r>
            <a:endParaRPr lang="it-IT" sz="1600" dirty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D87B20E4-7C60-8986-0734-3DACB123F9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8643" y="2036761"/>
            <a:ext cx="2503514" cy="441325"/>
          </a:xfrm>
        </p:spPr>
        <p:txBody>
          <a:bodyPr>
            <a:normAutofit/>
          </a:bodyPr>
          <a:lstStyle/>
          <a:p>
            <a:r>
              <a:rPr lang="en-US" sz="1800"/>
              <a:t>Real-time monitoring</a:t>
            </a:r>
            <a:endParaRPr lang="it-IT" sz="1800" dirty="0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CBE5C351-E945-75B9-5C09-15D03CFB7E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4561" y="3131802"/>
            <a:ext cx="2503621" cy="2706733"/>
          </a:xfrm>
        </p:spPr>
        <p:txBody>
          <a:bodyPr/>
          <a:lstStyle/>
          <a:p>
            <a:r>
              <a:rPr lang="en-US" sz="1600"/>
              <a:t>GPR provides a variance for every prediction, offering operators a built-in </a:t>
            </a:r>
            <a:r>
              <a:rPr lang="en-US" sz="1600">
                <a:solidFill>
                  <a:srgbClr val="0070C0"/>
                </a:solidFill>
              </a:rPr>
              <a:t>measure of confidence</a:t>
            </a:r>
            <a:r>
              <a:rPr lang="en-US" sz="1600"/>
              <a:t>:  this helps in identifying when the reconstruction might be less reliable due to sensor issues or unusual core conditions</a:t>
            </a:r>
            <a:endParaRPr lang="it-IT" sz="1600" dirty="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FED64DF3-A324-586E-F2BA-01233FABE7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4584" y="2257775"/>
            <a:ext cx="2329164" cy="553155"/>
          </a:xfrm>
        </p:spPr>
        <p:txBody>
          <a:bodyPr wrap="square" anchor="b" anchorCtr="0">
            <a:noAutofit/>
          </a:bodyPr>
          <a:lstStyle/>
          <a:p>
            <a:endParaRPr lang="en-US" sz="1800"/>
          </a:p>
          <a:p>
            <a:r>
              <a:rPr lang="en-US" sz="1800"/>
              <a:t>Reliable uncertainty </a:t>
            </a:r>
          </a:p>
          <a:p>
            <a:r>
              <a:rPr lang="en-US" sz="1800"/>
              <a:t>estimates</a:t>
            </a:r>
            <a:endParaRPr lang="it-IT" sz="1800" dirty="0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42892A37-591F-5969-2FEE-563A8397280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50229" y="3131802"/>
            <a:ext cx="2578811" cy="3167396"/>
          </a:xfrm>
        </p:spPr>
        <p:txBody>
          <a:bodyPr/>
          <a:lstStyle/>
          <a:p>
            <a:r>
              <a:rPr lang="en-US" sz="1600"/>
              <a:t>Since the method relies directly on detector data and </a:t>
            </a:r>
            <a:r>
              <a:rPr lang="en-US" sz="1600">
                <a:solidFill>
                  <a:srgbClr val="0070C0"/>
                </a:solidFill>
              </a:rPr>
              <a:t>does not enforce a rigid parametric core model</a:t>
            </a:r>
            <a:r>
              <a:rPr lang="en-US" sz="1600"/>
              <a:t>, it can reveal unexpected anomalies (control rod drops, xenon spatial oscillations, fuel assembly failures) that traditional model-based approaches might overlook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5145751A-F2AA-4EA5-B098-B3DF3BF1741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50252" y="2257775"/>
            <a:ext cx="2503514" cy="553155"/>
          </a:xfrm>
        </p:spPr>
        <p:txBody>
          <a:bodyPr/>
          <a:lstStyle/>
          <a:p>
            <a:r>
              <a:rPr lang="en-US" sz="1800"/>
              <a:t>Potential for anomaly detection</a:t>
            </a:r>
            <a:endParaRPr lang="it-IT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DBBD915-5715-2121-C703-32E344EE64D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57816" y="3131802"/>
            <a:ext cx="2503621" cy="2706733"/>
          </a:xfrm>
        </p:spPr>
        <p:txBody>
          <a:bodyPr/>
          <a:lstStyle/>
          <a:p>
            <a:r>
              <a:rPr lang="en-US" sz="1600"/>
              <a:t>The study concludes that this methodology is </a:t>
            </a:r>
            <a:r>
              <a:rPr lang="en-US" sz="1600">
                <a:solidFill>
                  <a:srgbClr val="0070C0"/>
                </a:solidFill>
              </a:rPr>
              <a:t>not limited to power mapping </a:t>
            </a:r>
            <a:r>
              <a:rPr lang="en-US" sz="1600"/>
              <a:t>and could be adapted for other critical tasks, such as reconstructing the core temperature distribution using data from fixed thermocouples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8F014B2-FE37-AF9B-1BC4-A8464E2523C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57839" y="2036761"/>
            <a:ext cx="2503514" cy="441325"/>
          </a:xfrm>
        </p:spPr>
        <p:txBody>
          <a:bodyPr/>
          <a:lstStyle/>
          <a:p>
            <a:r>
              <a:rPr lang="en-US" sz="1800"/>
              <a:t>Versatility</a:t>
            </a:r>
          </a:p>
        </p:txBody>
      </p:sp>
    </p:spTree>
    <p:extLst>
      <p:ext uri="{BB962C8B-B14F-4D97-AF65-F5344CB8AC3E}">
        <p14:creationId xmlns:p14="http://schemas.microsoft.com/office/powerpoint/2010/main" val="91483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79A8D-489C-24E1-B531-818A15C4A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383476-7BAE-D86D-2459-3C0FB02E1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Thank you for the attention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718081D-6FF6-0B35-48A7-8CFC9E4DA7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14538" y="39688"/>
            <a:ext cx="1042500" cy="365125"/>
          </a:xfrm>
        </p:spPr>
        <p:txBody>
          <a:bodyPr/>
          <a:lstStyle/>
          <a:p>
            <a:fld id="{3135EEA2-8D42-4D46-95A6-66E65FDC5EB1}" type="slidenum">
              <a:rPr lang="it-IT" smtClean="0"/>
              <a:pPr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5874327"/>
      </p:ext>
    </p:extLst>
  </p:cSld>
  <p:clrMapOvr>
    <a:masterClrMapping/>
  </p:clrMapOvr>
</p:sld>
</file>

<file path=ppt/theme/theme1.xml><?xml version="1.0" encoding="utf-8"?>
<a:theme xmlns:a="http://schemas.openxmlformats.org/drawingml/2006/main" name="Interni">
  <a:themeElements>
    <a:clrScheme name="Polimi ppt blu102c53">
      <a:dk1>
        <a:srgbClr val="000000"/>
      </a:dk1>
      <a:lt1>
        <a:srgbClr val="FFFFFF"/>
      </a:lt1>
      <a:dk2>
        <a:srgbClr val="102C53"/>
      </a:dk2>
      <a:lt2>
        <a:srgbClr val="FFFFFF"/>
      </a:lt2>
      <a:accent1>
        <a:srgbClr val="102C53"/>
      </a:accent1>
      <a:accent2>
        <a:srgbClr val="596C87"/>
      </a:accent2>
      <a:accent3>
        <a:srgbClr val="8795A8"/>
      </a:accent3>
      <a:accent4>
        <a:srgbClr val="B7BFCA"/>
      </a:accent4>
      <a:accent5>
        <a:srgbClr val="D0D5DD"/>
      </a:accent5>
      <a:accent6>
        <a:srgbClr val="F3F3F6"/>
      </a:accent6>
      <a:hlink>
        <a:srgbClr val="0000FF"/>
      </a:hlink>
      <a:folHlink>
        <a:srgbClr val="28C8F0"/>
      </a:folHlink>
    </a:clrScheme>
    <a:fontScheme name="caratteri tema manrope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ppt_2024_ATENEO_v3_" id="{3836C8EC-FB0E-024A-9CB8-6049F50373A0}" vid="{2AF27D89-DAD7-5343-8E4A-CD1FBF6B72E8}"/>
    </a:ext>
  </a:extLst>
</a:theme>
</file>

<file path=ppt/theme/theme2.xml><?xml version="1.0" encoding="utf-8"?>
<a:theme xmlns:a="http://schemas.openxmlformats.org/drawingml/2006/main" name="Cover">
  <a:themeElements>
    <a:clrScheme name="Polimi ppt blu102c53">
      <a:dk1>
        <a:srgbClr val="000000"/>
      </a:dk1>
      <a:lt1>
        <a:srgbClr val="FFFFFF"/>
      </a:lt1>
      <a:dk2>
        <a:srgbClr val="102C53"/>
      </a:dk2>
      <a:lt2>
        <a:srgbClr val="FFFFFF"/>
      </a:lt2>
      <a:accent1>
        <a:srgbClr val="102C53"/>
      </a:accent1>
      <a:accent2>
        <a:srgbClr val="596C87"/>
      </a:accent2>
      <a:accent3>
        <a:srgbClr val="8795A8"/>
      </a:accent3>
      <a:accent4>
        <a:srgbClr val="B7BFCA"/>
      </a:accent4>
      <a:accent5>
        <a:srgbClr val="D0D5DD"/>
      </a:accent5>
      <a:accent6>
        <a:srgbClr val="F3F3F6"/>
      </a:accent6>
      <a:hlink>
        <a:srgbClr val="0000FF"/>
      </a:hlink>
      <a:folHlink>
        <a:srgbClr val="28C8F0"/>
      </a:folHlink>
    </a:clrScheme>
    <a:fontScheme name="caratteri tema manrope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ppt_2024_ATENEO_v3_" id="{3836C8EC-FB0E-024A-9CB8-6049F50373A0}" vid="{3248B3C8-2964-7D4E-AA9A-B2B90DE2B6AF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8cd69a3-c9dc-4aff-9004-077ff368026e">
      <Terms xmlns="http://schemas.microsoft.com/office/infopath/2007/PartnerControls"/>
    </lcf76f155ced4ddcb4097134ff3c332f>
    <TaxCatchAll xmlns="b3889a89-2bfb-4cb6-aa24-210fc7f9026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A667F41E32AD944903CA9E447462620" ma:contentTypeVersion="12" ma:contentTypeDescription="Creare un nuovo documento." ma:contentTypeScope="" ma:versionID="b821fca97b300f972c02290925499425">
  <xsd:schema xmlns:xsd="http://www.w3.org/2001/XMLSchema" xmlns:xs="http://www.w3.org/2001/XMLSchema" xmlns:p="http://schemas.microsoft.com/office/2006/metadata/properties" xmlns:ns2="38cd69a3-c9dc-4aff-9004-077ff368026e" xmlns:ns3="b3889a89-2bfb-4cb6-aa24-210fc7f90260" targetNamespace="http://schemas.microsoft.com/office/2006/metadata/properties" ma:root="true" ma:fieldsID="bbcc18fba50dceeb92d9a6f270c49402" ns2:_="" ns3:_="">
    <xsd:import namespace="38cd69a3-c9dc-4aff-9004-077ff368026e"/>
    <xsd:import namespace="b3889a89-2bfb-4cb6-aa24-210fc7f902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cd69a3-c9dc-4aff-9004-077ff36802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 immagine" ma:readOnly="false" ma:fieldId="{5cf76f15-5ced-4ddc-b409-7134ff3c332f}" ma:taxonomyMulti="true" ma:sspId="62691f12-1220-44b1-ba48-e77f64da299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889a89-2bfb-4cb6-aa24-210fc7f9026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1e4df09-ca6f-4ed9-a7f3-04f637a6a423}" ma:internalName="TaxCatchAll" ma:showField="CatchAllData" ma:web="b3889a89-2bfb-4cb6-aa24-210fc7f902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DB12032-A9DA-4839-8229-314F9C0A8DD0}">
  <ds:schemaRefs>
    <ds:schemaRef ds:uri="http://schemas.microsoft.com/office/2006/metadata/properties"/>
    <ds:schemaRef ds:uri="http://schemas.microsoft.com/office/infopath/2007/PartnerControls"/>
    <ds:schemaRef ds:uri="38cd69a3-c9dc-4aff-9004-077ff368026e"/>
    <ds:schemaRef ds:uri="b3889a89-2bfb-4cb6-aa24-210fc7f90260"/>
  </ds:schemaRefs>
</ds:datastoreItem>
</file>

<file path=customXml/itemProps2.xml><?xml version="1.0" encoding="utf-8"?>
<ds:datastoreItem xmlns:ds="http://schemas.openxmlformats.org/officeDocument/2006/customXml" ds:itemID="{DEAE6444-B201-4205-B136-6F38EDD8F7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C5C27C-1C49-4021-8DA7-7006C7839A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cd69a3-c9dc-4aff-9004-077ff368026e"/>
    <ds:schemaRef ds:uri="b3889a89-2bfb-4cb6-aa24-210fc7f902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Interni</Template>
  <TotalTime>1931</TotalTime>
  <Words>1161</Words>
  <Application>Microsoft Macintosh PowerPoint</Application>
  <PresentationFormat>Widescreen</PresentationFormat>
  <Paragraphs>105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Manrope</vt:lpstr>
      <vt:lpstr>Arial</vt:lpstr>
      <vt:lpstr>Cambria Math</vt:lpstr>
      <vt:lpstr>Calibri</vt:lpstr>
      <vt:lpstr>Interni</vt:lpstr>
      <vt:lpstr>Cover</vt:lpstr>
      <vt:lpstr>In-core intrumentation: “Power distribution reconstruction from in-core detector measurements using gaussian process regression” Silva, A. S. et al. (2025)</vt:lpstr>
      <vt:lpstr>In-core instrumentation</vt:lpstr>
      <vt:lpstr>In-core instrumentation</vt:lpstr>
      <vt:lpstr>Taxonomy of in-core instrumentation</vt:lpstr>
      <vt:lpstr>Taxonomy of in-core instrumentation</vt:lpstr>
      <vt:lpstr>Fixed vs. movable in-core detectors</vt:lpstr>
      <vt:lpstr>Fixed vs. movable in-core detectors</vt:lpstr>
      <vt:lpstr>Power distribution reconstruction</vt:lpstr>
      <vt:lpstr>Power distribution reconstruction</vt:lpstr>
      <vt:lpstr>Dataset and methods</vt:lpstr>
      <vt:lpstr>Dataset and methods</vt:lpstr>
      <vt:lpstr>Results and interpretation</vt:lpstr>
      <vt:lpstr>Results and interpretation </vt:lpstr>
      <vt:lpstr>PowerPoint Presentation</vt:lpstr>
      <vt:lpstr>Practical implications and key takeaways</vt:lpstr>
      <vt:lpstr>Practical implications and key takeaways</vt:lpstr>
      <vt:lpstr>Thank you for the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Stefano Patitucci</dc:creator>
  <cp:lastModifiedBy>Stefano Patitucci</cp:lastModifiedBy>
  <cp:revision>5</cp:revision>
  <dcterms:created xsi:type="dcterms:W3CDTF">2026-01-19T11:47:30Z</dcterms:created>
  <dcterms:modified xsi:type="dcterms:W3CDTF">2026-01-30T11:34:01Z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0x0101004A667F41E32AD944903CA9E447462620</vt:lpwstr>
  </property>
</Properties>
</file>